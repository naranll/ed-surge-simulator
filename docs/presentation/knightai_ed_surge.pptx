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a35ea84f-60ff-bcc6-cf4e-b9816214a141}">
          <p14:sldIdLst>
            <p14:sldId id="256"/>
          </p14:sldIdLst>
        </p14:section>
        <p14:section name="Solution" id="{f677e264-b957-f617-7553-2fe314508ea0}">
          <p14:sldIdLst>
            <p14:sldId id="257"/>
          </p14:sldIdLst>
        </p14:section>
        <p14:section name="Results" id="{ca9c7b6c-d920-6116-79e6-317118a8baa2}">
          <p14:sldIdLst>
            <p14:sldId id="258"/>
          </p14:sldIdLst>
        </p14:section>
        <p14:section name="Roadmap" id="{daa93436-ccaf-2224-9403-3bb9b670da2a}">
          <p14:sldIdLst>
            <p14:sldId id="259"/>
          </p14:sldIdLst>
        </p14:section>
        <p14:section name="Limits and team" id="{a654db2e-d0f8-9ab4-eaa2-644f65766dc9}">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summer, emergency departments plan for an ordinary day, and then a heatwave arrives. In our simulated reference department, built from the CDC's NHAMCS 2022 survey, a normal day sees 13.8 percent of urgent patients late. On a heatwave day that nearly doubles, to 26.7 percent. Patients who give up and leave unseen rise from 1.9 to 6.8 percent, and beds peak at 96 percent. Hospitals rarely know in advance where they will break first. PulseOps is built to answer that question before the surge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PulseOps starts from real patient patterns in the CDC's NHAMCS 2022 survey: when people arrive, how urgent they are, and how long care takes. A calibrated simulator replays the department event by event. Then we search 78 plans, such as an extra clinician or fast track, on the same 50 simulated days, and recommend one only when its 95 percent range clearly beats doing nothing. On the heatwave, that lifts urgent patients seen on time from 73 to 87 percent. An early-warning model scores the next four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runs on IBM LinuxONE. Our final full run on an s390x machine with three cores took 228 seconds end to end: tests, five scenarios, the plan search and model training. It produced 150,000 early-warning snapshots in 11.6 seconds, and four workers ran 2.8 times faster than one. The scenario results match our x86 run exactly. The table shows the payoff: doing nothing on a normal day, and on every surge a plan whose 95 percent range is clearly above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Today, built and running: classical machine learning retrained on LinuxONE in 90 seconds, flagging urgent-late risk with an AUC of 0.873, saved in a format that loads on big-endian s390x. Next, and not built yet: export those models to ONNX and compile them with the IBM Z Deep Learning Compiler, so scoring runs on Telum's on-chip AI accelerator. Later, also future: real-time HL7 and FHIR feeds and many hospitals on one LinuxONE, validated against real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clear about what this is. PulseOps is a simulation, not validated on a real hospital, built on a national survey sample rather than one emergency department. Our biggest open gap: simulated urgent patients wait a median 5.1 minutes, real ones 15.0. We show that number instead of hiding it. Next, we draw boarding and patience from the data, calibrate every hospital size and test on a partner hospital's records. We are Team KnightAI.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94944"/>
            <a:ext cx="11094415"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382512"/>
            <a:ext cx="8229600" cy="274320"/>
          </a:xfrm>
          <a:prstGeom prst="rect">
            <a:avLst/>
          </a:prstGeom>
          <a:noFill/>
          <a:ln/>
        </p:spPr>
        <p:txBody>
          <a:bodyPr wrap="square" lIns="0" tIns="0" rIns="0" bIns="0" rtlCol="0" anchor="ctr"/>
          <a:lstStyle/>
          <a:p>
            <a:pPr indent="0" marL="0">
              <a:buNone/>
            </a:pPr>
            <a:r>
              <a:rPr lang="en-US" sz="1200" dirty="0">
                <a:solidFill>
                  <a:schemeClr val="tx2"/>
                </a:solidFill>
              </a:rPr>
              <a:t>KnightAI   ·   PulseOps — ED Surge Simulator   ·   IBM Z Datathon 2026</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4B5563"/>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4B556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naranll/ed-surge-simulator" TargetMode="Externa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400" b="1" spc="200" kern="0" dirty="0">
                <a:solidFill>
                  <a:schemeClr val="accent1"/>
                </a:solidFill>
              </a:rPr>
              <a:t>PULSEOPS — ED SURGE SIMULATOR   ·   THE PROBLEM</a:t>
            </a:r>
            <a:endParaRPr lang="en-US" sz="1400" dirty="0"/>
          </a:p>
        </p:txBody>
      </p:sp>
      <p:sp>
        <p:nvSpPr>
          <p:cNvPr id="3" name="Text 0"/>
          <p:cNvSpPr/>
          <p:nvPr>
            <p:ph idx="101" type="title" hasCustomPrompt="1"/>
          </p:nvPr>
        </p:nvSpPr>
        <p:spPr>
          <a:xfrm>
            <a:off x="548640" y="694944"/>
            <a:ext cx="11094415" cy="822960"/>
          </a:xfrm>
          <a:prstGeom prst="rect">
            <a:avLst/>
          </a:prstGeom>
          <a:noFill/>
          <a:ln/>
        </p:spPr>
        <p:txBody>
          <a:bodyPr wrap="square" lIns="0" tIns="0" rIns="0" bIns="0" rtlCol="0" anchor="t"/>
          <a:lstStyle/>
          <a:p>
            <a:pPr algn="l" indent="0" marL="0">
              <a:buNone/>
            </a:pPr>
            <a:r>
              <a:rPr lang="en-US" sz="3200" b="1" dirty="0">
                <a:solidFill>
                  <a:schemeClr val="tx1"/>
                </a:solidFill>
              </a:rPr>
              <a:t>A heatwave nearly doubles the share of urgent patients seen late</a:t>
            </a:r>
            <a:endParaRPr lang="en-US" sz="3200" dirty="0"/>
          </a:p>
        </p:txBody>
      </p:sp>
      <p:sp>
        <p:nvSpPr>
          <p:cNvPr id="4" name="Text 2"/>
          <p:cNvSpPr txBox="1"/>
          <p:nvPr/>
        </p:nvSpPr>
        <p:spPr>
          <a:xfrm>
            <a:off x="548640" y="1737360"/>
            <a:ext cx="11094415" cy="365760"/>
          </a:xfrm>
          <a:prstGeom prst="rect">
            <a:avLst/>
          </a:prstGeom>
          <a:noFill/>
          <a:ln/>
        </p:spPr>
        <p:txBody>
          <a:bodyPr wrap="square" lIns="0" tIns="0" rIns="0" bIns="0" rtlCol="0" anchor="t"/>
          <a:lstStyle/>
          <a:p>
            <a:pPr indent="0" marL="0">
              <a:buNone/>
            </a:pPr>
            <a:r>
              <a:rPr lang="en-US" sz="2000" dirty="0">
                <a:solidFill>
                  <a:schemeClr val="tx2"/>
                </a:solidFill>
              </a:rPr>
              <a:t>Urgent patients (triage levels 1–3) not seen within their target time</a:t>
            </a:r>
            <a:endParaRPr lang="en-US" sz="2000" dirty="0"/>
          </a:p>
        </p:txBody>
      </p:sp>
      <p:sp>
        <p:nvSpPr>
          <p:cNvPr id="5" name="normal card"/>
          <p:cNvSpPr/>
          <p:nvPr/>
        </p:nvSpPr>
        <p:spPr>
          <a:xfrm>
            <a:off x="548640" y="2240280"/>
            <a:ext cx="4754880" cy="2148840"/>
          </a:xfrm>
          <a:prstGeom prst="roundRect">
            <a:avLst>
              <a:gd name="adj" fmla="val 5106"/>
            </a:avLst>
          </a:prstGeom>
          <a:solidFill>
            <a:srgbClr val="F3F4F6"/>
          </a:solidFill>
          <a:ln w="12700">
            <a:solidFill>
              <a:srgbClr val="D1D5DB"/>
            </a:solidFill>
            <a:prstDash val="solid"/>
          </a:ln>
        </p:spPr>
      </p:sp>
      <p:sp>
        <p:nvSpPr>
          <p:cNvPr id="6" name="Text 4"/>
          <p:cNvSpPr txBox="1"/>
          <p:nvPr/>
        </p:nvSpPr>
        <p:spPr>
          <a:xfrm>
            <a:off x="914400" y="2468880"/>
            <a:ext cx="4206240" cy="1234440"/>
          </a:xfrm>
          <a:prstGeom prst="rect">
            <a:avLst/>
          </a:prstGeom>
          <a:noFill/>
          <a:ln/>
        </p:spPr>
        <p:txBody>
          <a:bodyPr wrap="square" lIns="0" tIns="0" rIns="0" bIns="0" rtlCol="0" anchor="ctr"/>
          <a:lstStyle/>
          <a:p>
            <a:pPr indent="0" marL="0">
              <a:buNone/>
            </a:pPr>
            <a:r>
              <a:rPr lang="en-US" sz="8800" b="1" dirty="0">
                <a:solidFill>
                  <a:srgbClr val="4B5563"/>
                </a:solidFill>
              </a:rPr>
              <a:t>13.8%</a:t>
            </a:r>
            <a:endParaRPr lang="en-US" sz="8800" dirty="0"/>
          </a:p>
        </p:txBody>
      </p:sp>
      <p:sp>
        <p:nvSpPr>
          <p:cNvPr id="7" name="Text 5"/>
          <p:cNvSpPr txBox="1"/>
          <p:nvPr/>
        </p:nvSpPr>
        <p:spPr>
          <a:xfrm>
            <a:off x="914400" y="3749040"/>
            <a:ext cx="4206240" cy="411480"/>
          </a:xfrm>
          <a:prstGeom prst="rect">
            <a:avLst/>
          </a:prstGeom>
          <a:noFill/>
          <a:ln/>
        </p:spPr>
        <p:txBody>
          <a:bodyPr wrap="square" lIns="0" tIns="0" rIns="0" bIns="0" rtlCol="0" anchor="t"/>
          <a:lstStyle/>
          <a:p>
            <a:pPr indent="0" marL="0">
              <a:buNone/>
            </a:pPr>
            <a:r>
              <a:rPr lang="en-US" sz="2000" b="1" dirty="0">
                <a:solidFill>
                  <a:schemeClr val="tx1"/>
                </a:solidFill>
              </a:rPr>
              <a:t>Normal day</a:t>
            </a:r>
            <a:endParaRPr lang="en-US" sz="2000" dirty="0"/>
          </a:p>
        </p:txBody>
      </p:sp>
      <p:sp>
        <p:nvSpPr>
          <p:cNvPr id="8" name="arrow"/>
          <p:cNvSpPr/>
          <p:nvPr/>
        </p:nvSpPr>
        <p:spPr>
          <a:xfrm>
            <a:off x="5532120" y="3044952"/>
            <a:ext cx="822960" cy="548640"/>
          </a:xfrm>
          <a:prstGeom prst="rightArrow">
            <a:avLst/>
          </a:prstGeom>
          <a:solidFill>
            <a:srgbClr val="D1D5DB"/>
          </a:solidFill>
          <a:ln w="12700">
            <a:solidFill>
              <a:srgbClr val="D1D5DB"/>
            </a:solidFill>
            <a:prstDash val="solid"/>
          </a:ln>
        </p:spPr>
      </p:sp>
      <p:sp>
        <p:nvSpPr>
          <p:cNvPr id="9" name="heatwave card"/>
          <p:cNvSpPr/>
          <p:nvPr/>
        </p:nvSpPr>
        <p:spPr>
          <a:xfrm>
            <a:off x="6583680" y="2240280"/>
            <a:ext cx="5059375" cy="2148840"/>
          </a:xfrm>
          <a:prstGeom prst="roundRect">
            <a:avLst>
              <a:gd name="adj" fmla="val 5106"/>
            </a:avLst>
          </a:prstGeom>
          <a:solidFill>
            <a:srgbClr val="FDF4EA"/>
          </a:solidFill>
          <a:ln w="12700">
            <a:solidFill>
              <a:srgbClr val="D1D5DB"/>
            </a:solidFill>
            <a:prstDash val="solid"/>
          </a:ln>
        </p:spPr>
      </p:sp>
      <p:sp>
        <p:nvSpPr>
          <p:cNvPr id="10" name="Text 8"/>
          <p:cNvSpPr txBox="1"/>
          <p:nvPr/>
        </p:nvSpPr>
        <p:spPr>
          <a:xfrm>
            <a:off x="6949440" y="2468880"/>
            <a:ext cx="4206240" cy="1234440"/>
          </a:xfrm>
          <a:prstGeom prst="rect">
            <a:avLst/>
          </a:prstGeom>
          <a:noFill/>
          <a:ln/>
        </p:spPr>
        <p:txBody>
          <a:bodyPr wrap="square" lIns="0" tIns="0" rIns="0" bIns="0" rtlCol="0" anchor="ctr"/>
          <a:lstStyle/>
          <a:p>
            <a:pPr indent="0" marL="0">
              <a:buNone/>
            </a:pPr>
            <a:r>
              <a:rPr lang="en-US" sz="8800" b="1" dirty="0">
                <a:solidFill>
                  <a:srgbClr val="B45309"/>
                </a:solidFill>
              </a:rPr>
              <a:t>26.7%</a:t>
            </a:r>
            <a:endParaRPr lang="en-US" sz="8800" dirty="0"/>
          </a:p>
        </p:txBody>
      </p:sp>
      <p:sp>
        <p:nvSpPr>
          <p:cNvPr id="11" name="Text 9"/>
          <p:cNvSpPr txBox="1"/>
          <p:nvPr/>
        </p:nvSpPr>
        <p:spPr>
          <a:xfrm>
            <a:off x="6949440" y="3749040"/>
            <a:ext cx="4206240" cy="411480"/>
          </a:xfrm>
          <a:prstGeom prst="rect">
            <a:avLst/>
          </a:prstGeom>
          <a:noFill/>
          <a:ln/>
        </p:spPr>
        <p:txBody>
          <a:bodyPr wrap="square" lIns="0" tIns="0" rIns="0" bIns="0" rtlCol="0" anchor="t"/>
          <a:lstStyle/>
          <a:p>
            <a:pPr indent="0" marL="0">
              <a:buNone/>
            </a:pPr>
            <a:r>
              <a:rPr lang="en-US" sz="2000" b="1" dirty="0">
                <a:solidFill>
                  <a:srgbClr val="B45309"/>
                </a:solidFill>
              </a:rPr>
              <a:t>Heatwave day</a:t>
            </a:r>
            <a:endParaRPr lang="en-US" sz="2000" dirty="0"/>
          </a:p>
        </p:txBody>
      </p:sp>
      <p:sp>
        <p:nvSpPr>
          <p:cNvPr id="12" name="Text 10"/>
          <p:cNvSpPr txBox="1"/>
          <p:nvPr/>
        </p:nvSpPr>
        <p:spPr>
          <a:xfrm>
            <a:off x="548640" y="4663440"/>
            <a:ext cx="5120640" cy="457200"/>
          </a:xfrm>
          <a:prstGeom prst="rect">
            <a:avLst/>
          </a:prstGeom>
          <a:noFill/>
          <a:ln/>
        </p:spPr>
        <p:txBody>
          <a:bodyPr wrap="square" lIns="0" tIns="0" rIns="0" bIns="0" rtlCol="0" anchor="t"/>
          <a:lstStyle/>
          <a:p>
            <a:pPr indent="0" marL="0">
              <a:buNone/>
            </a:pPr>
            <a:r>
              <a:rPr lang="en-US" sz="2200" dirty="0">
                <a:solidFill>
                  <a:srgbClr val="4B5563"/>
                </a:solidFill>
              </a:rPr>
              <a:t>Left without being seen  </a:t>
            </a:r>
            <a:pPr indent="0" marL="0">
              <a:buNone/>
            </a:pPr>
            <a:r>
              <a:rPr lang="en-US" sz="2200" b="1" dirty="0">
                <a:solidFill>
                  <a:schemeClr val="tx1"/>
                </a:solidFill>
              </a:rPr>
              <a:t>1.9% → </a:t>
            </a:r>
            <a:pPr indent="0" marL="0">
              <a:buNone/>
            </a:pPr>
            <a:r>
              <a:rPr lang="en-US" sz="2200" b="1" dirty="0">
                <a:solidFill>
                  <a:srgbClr val="B45309"/>
                </a:solidFill>
              </a:rPr>
              <a:t>6.8%</a:t>
            </a:r>
            <a:endParaRPr lang="en-US" sz="2200" dirty="0"/>
          </a:p>
        </p:txBody>
      </p:sp>
      <p:sp>
        <p:nvSpPr>
          <p:cNvPr id="13" name="Text 11"/>
          <p:cNvSpPr txBox="1"/>
          <p:nvPr/>
        </p:nvSpPr>
        <p:spPr>
          <a:xfrm>
            <a:off x="6583680" y="4663440"/>
            <a:ext cx="5029200" cy="457200"/>
          </a:xfrm>
          <a:prstGeom prst="rect">
            <a:avLst/>
          </a:prstGeom>
          <a:noFill/>
          <a:ln/>
        </p:spPr>
        <p:txBody>
          <a:bodyPr wrap="square" lIns="0" tIns="0" rIns="0" bIns="0" rtlCol="0" anchor="t"/>
          <a:lstStyle/>
          <a:p>
            <a:pPr indent="0" marL="0">
              <a:buNone/>
            </a:pPr>
            <a:r>
              <a:rPr lang="en-US" sz="2200" dirty="0">
                <a:solidFill>
                  <a:srgbClr val="4B5563"/>
                </a:solidFill>
              </a:rPr>
              <a:t>Peak bed occupancy  </a:t>
            </a:r>
            <a:pPr indent="0" marL="0">
              <a:buNone/>
            </a:pPr>
            <a:r>
              <a:rPr lang="en-US" sz="2200" b="1" dirty="0">
                <a:solidFill>
                  <a:schemeClr val="tx1"/>
                </a:solidFill>
              </a:rPr>
              <a:t>87.1% → </a:t>
            </a:r>
            <a:pPr indent="0" marL="0">
              <a:buNone/>
            </a:pPr>
            <a:r>
              <a:rPr lang="en-US" sz="2200" b="1" dirty="0">
                <a:solidFill>
                  <a:srgbClr val="B45309"/>
                </a:solidFill>
              </a:rPr>
              <a:t>96.0%</a:t>
            </a:r>
            <a:endParaRPr lang="en-US" sz="2200" dirty="0"/>
          </a:p>
        </p:txBody>
      </p:sp>
      <p:sp>
        <p:nvSpPr>
          <p:cNvPr id="14" name="Text 12"/>
          <p:cNvSpPr txBox="1"/>
          <p:nvPr/>
        </p:nvSpPr>
        <p:spPr>
          <a:xfrm>
            <a:off x="548640" y="5440680"/>
            <a:ext cx="11094415" cy="685800"/>
          </a:xfrm>
          <a:prstGeom prst="rect">
            <a:avLst/>
          </a:prstGeom>
          <a:noFill/>
          <a:ln/>
        </p:spPr>
        <p:txBody>
          <a:bodyPr wrap="square" lIns="0" tIns="0" rIns="0" bIns="0" rtlCol="0" anchor="t"/>
          <a:lstStyle/>
          <a:p>
            <a:pPr indent="0" marL="0">
              <a:buNone/>
            </a:pPr>
            <a:r>
              <a:rPr lang="en-US" sz="1400" dirty="0">
                <a:solidFill>
                  <a:srgbClr val="6B7280"/>
                </a:solidFill>
              </a:rPr>
              <a:t>Simulated reference ED (60 beds, 4 doctors, 3 triage nurses), 50 simulated days per scenario. Patient patterns from NHAMCS 2022 (CDC); heatwave size +6% to +13% from a published study, as cited by the team.</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4B5563"/>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400" b="1" spc="200" kern="0" dirty="0">
                <a:solidFill>
                  <a:schemeClr val="accent1"/>
                </a:solidFill>
              </a:rPr>
              <a:t>HOW IT WORKS</a:t>
            </a:r>
            <a:endParaRPr lang="en-US" sz="1400" dirty="0"/>
          </a:p>
        </p:txBody>
      </p:sp>
      <p:sp>
        <p:nvSpPr>
          <p:cNvPr id="3" name="Text 0"/>
          <p:cNvSpPr/>
          <p:nvPr>
            <p:ph idx="101" type="title" hasCustomPrompt="1"/>
          </p:nvPr>
        </p:nvSpPr>
        <p:spPr>
          <a:xfrm>
            <a:off x="548640" y="694944"/>
            <a:ext cx="11094415" cy="822960"/>
          </a:xfrm>
          <a:prstGeom prst="rect">
            <a:avLst/>
          </a:prstGeom>
          <a:noFill/>
          <a:ln/>
        </p:spPr>
        <p:txBody>
          <a:bodyPr wrap="square" lIns="0" tIns="0" rIns="0" bIns="0" rtlCol="0" anchor="t"/>
          <a:lstStyle/>
          <a:p>
            <a:pPr algn="l" indent="0" marL="0">
              <a:buNone/>
            </a:pPr>
            <a:r>
              <a:rPr lang="en-US" sz="3200" b="1" dirty="0">
                <a:solidFill>
                  <a:schemeClr val="tx1"/>
                </a:solidFill>
              </a:rPr>
              <a:t>PulseOps tests every fix before the surge hits</a:t>
            </a:r>
            <a:endParaRPr lang="en-US" sz="3200" dirty="0"/>
          </a:p>
        </p:txBody>
      </p:sp>
      <p:sp>
        <p:nvSpPr>
          <p:cNvPr id="4" name="step 1"/>
          <p:cNvSpPr/>
          <p:nvPr/>
        </p:nvSpPr>
        <p:spPr>
          <a:xfrm>
            <a:off x="548640" y="1828800"/>
            <a:ext cx="502920" cy="502920"/>
          </a:xfrm>
          <a:prstGeom prst="ellipse">
            <a:avLst/>
          </a:prstGeom>
          <a:solidFill>
            <a:srgbClr val="0B5CAD"/>
          </a:solidFill>
          <a:ln w="12700">
            <a:solidFill>
              <a:srgbClr val="0B5CAD"/>
            </a:solidFill>
            <a:prstDash val="solid"/>
          </a:ln>
        </p:spPr>
      </p:sp>
      <p:sp>
        <p:nvSpPr>
          <p:cNvPr id="5" name="Text 3"/>
          <p:cNvSpPr txBox="1"/>
          <p:nvPr/>
        </p:nvSpPr>
        <p:spPr>
          <a:xfrm>
            <a:off x="548640" y="18288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1234440" y="1783080"/>
            <a:ext cx="3474720" cy="347472"/>
          </a:xfrm>
          <a:prstGeom prst="rect">
            <a:avLst/>
          </a:prstGeom>
          <a:noFill/>
          <a:ln/>
        </p:spPr>
        <p:txBody>
          <a:bodyPr wrap="square" lIns="0" tIns="0" rIns="0" bIns="0" rtlCol="0" anchor="t"/>
          <a:lstStyle/>
          <a:p>
            <a:pPr indent="0" marL="0">
              <a:buNone/>
            </a:pPr>
            <a:r>
              <a:rPr lang="en-US" sz="1900" b="1" dirty="0">
                <a:solidFill>
                  <a:schemeClr val="tx1"/>
                </a:solidFill>
              </a:rPr>
              <a:t>Real patient patterns</a:t>
            </a:r>
            <a:endParaRPr lang="en-US" sz="1900" dirty="0"/>
          </a:p>
        </p:txBody>
      </p:sp>
      <p:sp>
        <p:nvSpPr>
          <p:cNvPr id="7" name="Text 5"/>
          <p:cNvSpPr txBox="1"/>
          <p:nvPr/>
        </p:nvSpPr>
        <p:spPr>
          <a:xfrm>
            <a:off x="1234440" y="2148840"/>
            <a:ext cx="3474720" cy="566928"/>
          </a:xfrm>
          <a:prstGeom prst="rect">
            <a:avLst/>
          </a:prstGeom>
          <a:noFill/>
          <a:ln/>
        </p:spPr>
        <p:txBody>
          <a:bodyPr wrap="square" lIns="0" tIns="0" rIns="0" bIns="0" rtlCol="0" anchor="t"/>
          <a:lstStyle/>
          <a:p>
            <a:pPr indent="0" marL="0">
              <a:buNone/>
            </a:pPr>
            <a:r>
              <a:rPr lang="en-US" sz="1400" dirty="0">
                <a:solidFill>
                  <a:schemeClr val="tx2"/>
                </a:solidFill>
              </a:rPr>
              <a:t>NHAMCS 2022: 16,025 real ED visits (CDC survey)</a:t>
            </a:r>
            <a:endParaRPr lang="en-US" sz="1400" dirty="0"/>
          </a:p>
        </p:txBody>
      </p:sp>
      <p:sp>
        <p:nvSpPr>
          <p:cNvPr id="8" name="Shape 6"/>
          <p:cNvSpPr/>
          <p:nvPr/>
        </p:nvSpPr>
        <p:spPr>
          <a:xfrm>
            <a:off x="800100" y="2404872"/>
            <a:ext cx="0" cy="402336"/>
          </a:xfrm>
          <a:prstGeom prst="line">
            <a:avLst/>
          </a:prstGeom>
          <a:noFill/>
          <a:ln w="19050">
            <a:solidFill>
              <a:srgbClr val="D1D5DB"/>
            </a:solidFill>
            <a:prstDash val="solid"/>
          </a:ln>
        </p:spPr>
      </p:sp>
      <p:sp>
        <p:nvSpPr>
          <p:cNvPr id="9" name="step 2"/>
          <p:cNvSpPr/>
          <p:nvPr/>
        </p:nvSpPr>
        <p:spPr>
          <a:xfrm>
            <a:off x="548640" y="2852928"/>
            <a:ext cx="502920" cy="502920"/>
          </a:xfrm>
          <a:prstGeom prst="ellipse">
            <a:avLst/>
          </a:prstGeom>
          <a:solidFill>
            <a:srgbClr val="0B5CAD"/>
          </a:solidFill>
          <a:ln w="12700">
            <a:solidFill>
              <a:srgbClr val="0B5CAD"/>
            </a:solidFill>
            <a:prstDash val="solid"/>
          </a:ln>
        </p:spPr>
      </p:sp>
      <p:sp>
        <p:nvSpPr>
          <p:cNvPr id="10" name="Text 8"/>
          <p:cNvSpPr txBox="1"/>
          <p:nvPr/>
        </p:nvSpPr>
        <p:spPr>
          <a:xfrm>
            <a:off x="548640" y="285292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1" name="Text 9"/>
          <p:cNvSpPr txBox="1"/>
          <p:nvPr/>
        </p:nvSpPr>
        <p:spPr>
          <a:xfrm>
            <a:off x="1234440" y="2807208"/>
            <a:ext cx="3474720" cy="347472"/>
          </a:xfrm>
          <a:prstGeom prst="rect">
            <a:avLst/>
          </a:prstGeom>
          <a:noFill/>
          <a:ln/>
        </p:spPr>
        <p:txBody>
          <a:bodyPr wrap="square" lIns="0" tIns="0" rIns="0" bIns="0" rtlCol="0" anchor="t"/>
          <a:lstStyle/>
          <a:p>
            <a:pPr indent="0" marL="0">
              <a:buNone/>
            </a:pPr>
            <a:r>
              <a:rPr lang="en-US" sz="1900" b="1" dirty="0">
                <a:solidFill>
                  <a:schemeClr val="tx1"/>
                </a:solidFill>
              </a:rPr>
              <a:t>Calibrated simulator</a:t>
            </a:r>
            <a:endParaRPr lang="en-US" sz="1900" dirty="0"/>
          </a:p>
        </p:txBody>
      </p:sp>
      <p:sp>
        <p:nvSpPr>
          <p:cNvPr id="12" name="Text 10"/>
          <p:cNvSpPr txBox="1"/>
          <p:nvPr/>
        </p:nvSpPr>
        <p:spPr>
          <a:xfrm>
            <a:off x="1234440" y="3172968"/>
            <a:ext cx="3474720" cy="566928"/>
          </a:xfrm>
          <a:prstGeom prst="rect">
            <a:avLst/>
          </a:prstGeom>
          <a:noFill/>
          <a:ln/>
        </p:spPr>
        <p:txBody>
          <a:bodyPr wrap="square" lIns="0" tIns="0" rIns="0" bIns="0" rtlCol="0" anchor="t"/>
          <a:lstStyle/>
          <a:p>
            <a:pPr indent="0" marL="0">
              <a:buNone/>
            </a:pPr>
            <a:r>
              <a:rPr lang="en-US" sz="1400" dirty="0">
                <a:solidFill>
                  <a:schemeClr val="tx2"/>
                </a:solidFill>
              </a:rPr>
              <a:t>Arrivals, triage mix and care times fitted to the survey</a:t>
            </a:r>
            <a:endParaRPr lang="en-US" sz="1400" dirty="0"/>
          </a:p>
        </p:txBody>
      </p:sp>
      <p:sp>
        <p:nvSpPr>
          <p:cNvPr id="13" name="Shape 11"/>
          <p:cNvSpPr/>
          <p:nvPr/>
        </p:nvSpPr>
        <p:spPr>
          <a:xfrm>
            <a:off x="800100" y="3429000"/>
            <a:ext cx="0" cy="402336"/>
          </a:xfrm>
          <a:prstGeom prst="line">
            <a:avLst/>
          </a:prstGeom>
          <a:noFill/>
          <a:ln w="19050">
            <a:solidFill>
              <a:srgbClr val="D1D5DB"/>
            </a:solidFill>
            <a:prstDash val="solid"/>
          </a:ln>
        </p:spPr>
      </p:sp>
      <p:sp>
        <p:nvSpPr>
          <p:cNvPr id="14" name="step 3"/>
          <p:cNvSpPr/>
          <p:nvPr/>
        </p:nvSpPr>
        <p:spPr>
          <a:xfrm>
            <a:off x="548640" y="3877056"/>
            <a:ext cx="502920" cy="502920"/>
          </a:xfrm>
          <a:prstGeom prst="ellipse">
            <a:avLst/>
          </a:prstGeom>
          <a:solidFill>
            <a:srgbClr val="0B5CAD"/>
          </a:solidFill>
          <a:ln w="12700">
            <a:solidFill>
              <a:srgbClr val="0B5CAD"/>
            </a:solidFill>
            <a:prstDash val="solid"/>
          </a:ln>
        </p:spPr>
      </p:sp>
      <p:sp>
        <p:nvSpPr>
          <p:cNvPr id="15" name="Text 13"/>
          <p:cNvSpPr txBox="1"/>
          <p:nvPr/>
        </p:nvSpPr>
        <p:spPr>
          <a:xfrm>
            <a:off x="548640" y="387705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6" name="Text 14"/>
          <p:cNvSpPr txBox="1"/>
          <p:nvPr/>
        </p:nvSpPr>
        <p:spPr>
          <a:xfrm>
            <a:off x="1234440" y="3831336"/>
            <a:ext cx="3474720" cy="347472"/>
          </a:xfrm>
          <a:prstGeom prst="rect">
            <a:avLst/>
          </a:prstGeom>
          <a:noFill/>
          <a:ln/>
        </p:spPr>
        <p:txBody>
          <a:bodyPr wrap="square" lIns="0" tIns="0" rIns="0" bIns="0" rtlCol="0" anchor="t"/>
          <a:lstStyle/>
          <a:p>
            <a:pPr indent="0" marL="0">
              <a:buNone/>
            </a:pPr>
            <a:r>
              <a:rPr lang="en-US" sz="1900" b="1" dirty="0">
                <a:solidFill>
                  <a:schemeClr val="tx1"/>
                </a:solidFill>
              </a:rPr>
              <a:t>Plan search</a:t>
            </a:r>
            <a:endParaRPr lang="en-US" sz="1900" dirty="0"/>
          </a:p>
        </p:txBody>
      </p:sp>
      <p:sp>
        <p:nvSpPr>
          <p:cNvPr id="17" name="Text 15"/>
          <p:cNvSpPr txBox="1"/>
          <p:nvPr/>
        </p:nvSpPr>
        <p:spPr>
          <a:xfrm>
            <a:off x="1234440" y="4197096"/>
            <a:ext cx="3474720" cy="566928"/>
          </a:xfrm>
          <a:prstGeom prst="rect">
            <a:avLst/>
          </a:prstGeom>
          <a:noFill/>
          <a:ln/>
        </p:spPr>
        <p:txBody>
          <a:bodyPr wrap="square" lIns="0" tIns="0" rIns="0" bIns="0" rtlCol="0" anchor="t"/>
          <a:lstStyle/>
          <a:p>
            <a:pPr indent="0" marL="0">
              <a:buNone/>
            </a:pPr>
            <a:r>
              <a:rPr lang="en-US" sz="1400" dirty="0">
                <a:solidFill>
                  <a:schemeClr val="tx2"/>
                </a:solidFill>
              </a:rPr>
              <a:t>78 plans × 50 days; act only if the 95% range clears the gate</a:t>
            </a:r>
            <a:endParaRPr lang="en-US" sz="1400" dirty="0"/>
          </a:p>
        </p:txBody>
      </p:sp>
      <p:sp>
        <p:nvSpPr>
          <p:cNvPr id="18" name="Shape 16"/>
          <p:cNvSpPr/>
          <p:nvPr/>
        </p:nvSpPr>
        <p:spPr>
          <a:xfrm>
            <a:off x="800100" y="4453128"/>
            <a:ext cx="0" cy="402336"/>
          </a:xfrm>
          <a:prstGeom prst="line">
            <a:avLst/>
          </a:prstGeom>
          <a:noFill/>
          <a:ln w="19050">
            <a:solidFill>
              <a:srgbClr val="D1D5DB"/>
            </a:solidFill>
            <a:prstDash val="solid"/>
          </a:ln>
        </p:spPr>
      </p:sp>
      <p:sp>
        <p:nvSpPr>
          <p:cNvPr id="19" name="step 4"/>
          <p:cNvSpPr/>
          <p:nvPr/>
        </p:nvSpPr>
        <p:spPr>
          <a:xfrm>
            <a:off x="548640" y="4901184"/>
            <a:ext cx="502920" cy="502920"/>
          </a:xfrm>
          <a:prstGeom prst="ellipse">
            <a:avLst/>
          </a:prstGeom>
          <a:solidFill>
            <a:srgbClr val="0B5CAD"/>
          </a:solidFill>
          <a:ln w="12700">
            <a:solidFill>
              <a:srgbClr val="0B5CAD"/>
            </a:solidFill>
            <a:prstDash val="solid"/>
          </a:ln>
        </p:spPr>
      </p:sp>
      <p:sp>
        <p:nvSpPr>
          <p:cNvPr id="20" name="Text 18"/>
          <p:cNvSpPr txBox="1"/>
          <p:nvPr/>
        </p:nvSpPr>
        <p:spPr>
          <a:xfrm>
            <a:off x="548640" y="490118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1" name="Text 19"/>
          <p:cNvSpPr txBox="1"/>
          <p:nvPr/>
        </p:nvSpPr>
        <p:spPr>
          <a:xfrm>
            <a:off x="1234440" y="4855464"/>
            <a:ext cx="3474720" cy="347472"/>
          </a:xfrm>
          <a:prstGeom prst="rect">
            <a:avLst/>
          </a:prstGeom>
          <a:noFill/>
          <a:ln/>
        </p:spPr>
        <p:txBody>
          <a:bodyPr wrap="square" lIns="0" tIns="0" rIns="0" bIns="0" rtlCol="0" anchor="t"/>
          <a:lstStyle/>
          <a:p>
            <a:pPr indent="0" marL="0">
              <a:buNone/>
            </a:pPr>
            <a:r>
              <a:rPr lang="en-US" sz="1900" b="1" dirty="0">
                <a:solidFill>
                  <a:schemeClr val="tx1"/>
                </a:solidFill>
              </a:rPr>
              <a:t>Early-warning ML</a:t>
            </a:r>
            <a:endParaRPr lang="en-US" sz="1900" dirty="0"/>
          </a:p>
        </p:txBody>
      </p:sp>
      <p:sp>
        <p:nvSpPr>
          <p:cNvPr id="22" name="Text 20"/>
          <p:cNvSpPr txBox="1"/>
          <p:nvPr/>
        </p:nvSpPr>
        <p:spPr>
          <a:xfrm>
            <a:off x="1234440" y="5221224"/>
            <a:ext cx="3474720" cy="566928"/>
          </a:xfrm>
          <a:prstGeom prst="rect">
            <a:avLst/>
          </a:prstGeom>
          <a:noFill/>
          <a:ln/>
        </p:spPr>
        <p:txBody>
          <a:bodyPr wrap="square" lIns="0" tIns="0" rIns="0" bIns="0" rtlCol="0" anchor="t"/>
          <a:lstStyle/>
          <a:p>
            <a:pPr indent="0" marL="0">
              <a:buNone/>
            </a:pPr>
            <a:r>
              <a:rPr lang="en-US" sz="1400" dirty="0">
                <a:solidFill>
                  <a:schemeClr val="tx2"/>
                </a:solidFill>
              </a:rPr>
              <a:t>Scores breach risk for the next 4 hours from 150,000 snapshots</a:t>
            </a:r>
            <a:endParaRPr lang="en-US" sz="1400" dirty="0"/>
          </a:p>
        </p:txBody>
      </p:sp>
      <p:pic>
        <p:nvPicPr>
          <p:cNvPr id="23" name="Image 0" descr="PulseOps dashboard on a simulated heatwave day">    </p:cNvPr>
          <p:cNvPicPr>
            <a:picLocks noChangeAspect="1"/>
          </p:cNvPicPr>
          <p:nvPr/>
        </p:nvPicPr>
        <p:blipFill>
          <a:blip r:embed="rId1"/>
          <a:stretch>
            <a:fillRect/>
          </a:stretch>
        </p:blipFill>
        <p:spPr>
          <a:xfrm>
            <a:off x="6829865" y="1783080"/>
            <a:ext cx="3058245" cy="3657600"/>
          </a:xfrm>
          <a:prstGeom prst="rect">
            <a:avLst/>
          </a:prstGeom>
          <a:effectLst>
            <a:outerShdw sx="100000" sy="100000" kx="0" ky="0" algn="bl" rotWithShape="0" blurRad="101600" dist="25400" dir="5400000">
              <a:srgbClr val="000000">
                <a:alpha val="18000"/>
              </a:srgbClr>
            </a:outerShdw>
          </a:effectLst>
        </p:spPr>
      </p:pic>
      <p:sp>
        <p:nvSpPr>
          <p:cNvPr id="24" name="Text 21"/>
          <p:cNvSpPr txBox="1"/>
          <p:nvPr/>
        </p:nvSpPr>
        <p:spPr>
          <a:xfrm>
            <a:off x="5074920" y="5577840"/>
            <a:ext cx="6568135" cy="274320"/>
          </a:xfrm>
          <a:prstGeom prst="rect">
            <a:avLst/>
          </a:prstGeom>
          <a:noFill/>
          <a:ln/>
        </p:spPr>
        <p:txBody>
          <a:bodyPr wrap="square" lIns="0" tIns="0" rIns="0" bIns="0" rtlCol="0" anchor="t"/>
          <a:lstStyle/>
          <a:p>
            <a:pPr algn="ctr" indent="0" marL="0">
              <a:buNone/>
            </a:pPr>
            <a:r>
              <a:rPr lang="en-US" sz="1400" dirty="0">
                <a:solidFill>
                  <a:srgbClr val="6B7280"/>
                </a:solidFill>
              </a:rPr>
              <a:t>The PulseOps dashboard on a simulated heatwave day</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4B556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400" b="1" spc="200" kern="0" dirty="0">
                <a:solidFill>
                  <a:schemeClr val="accent1"/>
                </a:solidFill>
              </a:rPr>
              <a:t>RESULTS ON IBM LINUXONE (s390x)</a:t>
            </a:r>
            <a:endParaRPr lang="en-US" sz="1400" dirty="0"/>
          </a:p>
        </p:txBody>
      </p:sp>
      <p:sp>
        <p:nvSpPr>
          <p:cNvPr id="3" name="Text 0"/>
          <p:cNvSpPr/>
          <p:nvPr>
            <p:ph idx="101" type="title" hasCustomPrompt="1"/>
          </p:nvPr>
        </p:nvSpPr>
        <p:spPr>
          <a:xfrm>
            <a:off x="548640" y="694944"/>
            <a:ext cx="11094415" cy="822960"/>
          </a:xfrm>
          <a:prstGeom prst="rect">
            <a:avLst/>
          </a:prstGeom>
          <a:noFill/>
          <a:ln/>
        </p:spPr>
        <p:txBody>
          <a:bodyPr wrap="square" lIns="0" tIns="0" rIns="0" bIns="0" rtlCol="0" anchor="t"/>
          <a:lstStyle/>
          <a:p>
            <a:pPr algn="l" indent="0" marL="0">
              <a:buNone/>
            </a:pPr>
            <a:r>
              <a:rPr lang="en-US" sz="3200" b="1" dirty="0">
                <a:solidFill>
                  <a:schemeClr val="tx1"/>
                </a:solidFill>
              </a:rPr>
              <a:t>The whole pipeline runs on IBM LinuxONE in under four minutes</a:t>
            </a:r>
            <a:endParaRPr lang="en-US" sz="3200" dirty="0"/>
          </a:p>
        </p:txBody>
      </p:sp>
      <p:sp>
        <p:nvSpPr>
          <p:cNvPr id="4" name="tile 1"/>
          <p:cNvSpPr/>
          <p:nvPr/>
        </p:nvSpPr>
        <p:spPr>
          <a:xfrm>
            <a:off x="548640" y="1645920"/>
            <a:ext cx="2567864" cy="1417320"/>
          </a:xfrm>
          <a:prstGeom prst="roundRect">
            <a:avLst>
              <a:gd name="adj" fmla="val 7742"/>
            </a:avLst>
          </a:prstGeom>
          <a:solidFill>
            <a:srgbClr val="EEF4FB"/>
          </a:solidFill>
          <a:ln w="12700">
            <a:solidFill>
              <a:srgbClr val="D1D5DB"/>
            </a:solidFill>
            <a:prstDash val="solid"/>
          </a:ln>
        </p:spPr>
      </p:sp>
      <p:sp>
        <p:nvSpPr>
          <p:cNvPr id="5" name="Text 3"/>
          <p:cNvSpPr txBox="1"/>
          <p:nvPr/>
        </p:nvSpPr>
        <p:spPr>
          <a:xfrm>
            <a:off x="777240" y="1755648"/>
            <a:ext cx="2110664" cy="640080"/>
          </a:xfrm>
          <a:prstGeom prst="rect">
            <a:avLst/>
          </a:prstGeom>
          <a:noFill/>
          <a:ln/>
        </p:spPr>
        <p:txBody>
          <a:bodyPr wrap="square" lIns="0" tIns="0" rIns="0" bIns="0" rtlCol="0" anchor="ctr"/>
          <a:lstStyle/>
          <a:p>
            <a:pPr indent="0" marL="0">
              <a:buNone/>
            </a:pPr>
            <a:r>
              <a:rPr lang="en-US" sz="4000" b="1" dirty="0">
                <a:solidFill>
                  <a:srgbClr val="0B5CAD"/>
                </a:solidFill>
              </a:rPr>
              <a:t>228 s</a:t>
            </a:r>
            <a:endParaRPr lang="en-US" sz="4000" dirty="0"/>
          </a:p>
        </p:txBody>
      </p:sp>
      <p:sp>
        <p:nvSpPr>
          <p:cNvPr id="6" name="Text 4"/>
          <p:cNvSpPr txBox="1"/>
          <p:nvPr/>
        </p:nvSpPr>
        <p:spPr>
          <a:xfrm>
            <a:off x="777240" y="2395728"/>
            <a:ext cx="2110664" cy="566928"/>
          </a:xfrm>
          <a:prstGeom prst="rect">
            <a:avLst/>
          </a:prstGeom>
          <a:noFill/>
          <a:ln/>
        </p:spPr>
        <p:txBody>
          <a:bodyPr wrap="square" lIns="0" tIns="0" rIns="0" bIns="0" rtlCol="0" anchor="t"/>
          <a:lstStyle/>
          <a:p>
            <a:pPr indent="0" marL="0">
              <a:buNone/>
            </a:pPr>
            <a:r>
              <a:rPr lang="en-US" sz="1400" dirty="0">
                <a:solidFill>
                  <a:schemeClr val="tx1"/>
                </a:solidFill>
              </a:rPr>
              <a:t>Full pipeline on s390x: tests, scenarios, plan search, ML</a:t>
            </a:r>
            <a:endParaRPr lang="en-US" sz="1400" dirty="0"/>
          </a:p>
        </p:txBody>
      </p:sp>
      <p:sp>
        <p:nvSpPr>
          <p:cNvPr id="7" name="tile 2"/>
          <p:cNvSpPr/>
          <p:nvPr/>
        </p:nvSpPr>
        <p:spPr>
          <a:xfrm>
            <a:off x="3390824" y="1645920"/>
            <a:ext cx="2567864" cy="1417320"/>
          </a:xfrm>
          <a:prstGeom prst="roundRect">
            <a:avLst>
              <a:gd name="adj" fmla="val 7742"/>
            </a:avLst>
          </a:prstGeom>
          <a:solidFill>
            <a:srgbClr val="EEF4FB"/>
          </a:solidFill>
          <a:ln w="12700">
            <a:solidFill>
              <a:srgbClr val="D1D5DB"/>
            </a:solidFill>
            <a:prstDash val="solid"/>
          </a:ln>
        </p:spPr>
      </p:sp>
      <p:sp>
        <p:nvSpPr>
          <p:cNvPr id="8" name="Text 6"/>
          <p:cNvSpPr txBox="1"/>
          <p:nvPr/>
        </p:nvSpPr>
        <p:spPr>
          <a:xfrm>
            <a:off x="3619424" y="1755648"/>
            <a:ext cx="2110664" cy="640080"/>
          </a:xfrm>
          <a:prstGeom prst="rect">
            <a:avLst/>
          </a:prstGeom>
          <a:noFill/>
          <a:ln/>
        </p:spPr>
        <p:txBody>
          <a:bodyPr wrap="square" lIns="0" tIns="0" rIns="0" bIns="0" rtlCol="0" anchor="ctr"/>
          <a:lstStyle/>
          <a:p>
            <a:pPr indent="0" marL="0">
              <a:buNone/>
            </a:pPr>
            <a:r>
              <a:rPr lang="en-US" sz="4000" b="1" dirty="0">
                <a:solidFill>
                  <a:srgbClr val="0B5CAD"/>
                </a:solidFill>
              </a:rPr>
              <a:t>11.6 s</a:t>
            </a:r>
            <a:endParaRPr lang="en-US" sz="4000" dirty="0"/>
          </a:p>
        </p:txBody>
      </p:sp>
      <p:sp>
        <p:nvSpPr>
          <p:cNvPr id="9" name="Text 7"/>
          <p:cNvSpPr txBox="1"/>
          <p:nvPr/>
        </p:nvSpPr>
        <p:spPr>
          <a:xfrm>
            <a:off x="3619424" y="2395728"/>
            <a:ext cx="2110664" cy="566928"/>
          </a:xfrm>
          <a:prstGeom prst="rect">
            <a:avLst/>
          </a:prstGeom>
          <a:noFill/>
          <a:ln/>
        </p:spPr>
        <p:txBody>
          <a:bodyPr wrap="square" lIns="0" tIns="0" rIns="0" bIns="0" rtlCol="0" anchor="t"/>
          <a:lstStyle/>
          <a:p>
            <a:pPr indent="0" marL="0">
              <a:buNone/>
            </a:pPr>
            <a:r>
              <a:rPr lang="en-US" sz="1400" dirty="0">
                <a:solidFill>
                  <a:schemeClr val="tx1"/>
                </a:solidFill>
              </a:rPr>
              <a:t>150,000 snapshots (3,750 simulated days) on 3 cores</a:t>
            </a:r>
            <a:endParaRPr lang="en-US" sz="1400" dirty="0"/>
          </a:p>
        </p:txBody>
      </p:sp>
      <p:sp>
        <p:nvSpPr>
          <p:cNvPr id="10" name="tile 3"/>
          <p:cNvSpPr/>
          <p:nvPr/>
        </p:nvSpPr>
        <p:spPr>
          <a:xfrm>
            <a:off x="6233008" y="1645920"/>
            <a:ext cx="2567864" cy="1417320"/>
          </a:xfrm>
          <a:prstGeom prst="roundRect">
            <a:avLst>
              <a:gd name="adj" fmla="val 7742"/>
            </a:avLst>
          </a:prstGeom>
          <a:solidFill>
            <a:srgbClr val="EEF4FB"/>
          </a:solidFill>
          <a:ln w="12700">
            <a:solidFill>
              <a:srgbClr val="D1D5DB"/>
            </a:solidFill>
            <a:prstDash val="solid"/>
          </a:ln>
        </p:spPr>
      </p:sp>
      <p:sp>
        <p:nvSpPr>
          <p:cNvPr id="11" name="Text 9"/>
          <p:cNvSpPr txBox="1"/>
          <p:nvPr/>
        </p:nvSpPr>
        <p:spPr>
          <a:xfrm>
            <a:off x="6461608" y="1755648"/>
            <a:ext cx="2110664" cy="640080"/>
          </a:xfrm>
          <a:prstGeom prst="rect">
            <a:avLst/>
          </a:prstGeom>
          <a:noFill/>
          <a:ln/>
        </p:spPr>
        <p:txBody>
          <a:bodyPr wrap="square" lIns="0" tIns="0" rIns="0" bIns="0" rtlCol="0" anchor="ctr"/>
          <a:lstStyle/>
          <a:p>
            <a:pPr indent="0" marL="0">
              <a:buNone/>
            </a:pPr>
            <a:r>
              <a:rPr lang="en-US" sz="4000" b="1" dirty="0">
                <a:solidFill>
                  <a:srgbClr val="0B5CAD"/>
                </a:solidFill>
              </a:rPr>
              <a:t>2.8×</a:t>
            </a:r>
            <a:endParaRPr lang="en-US" sz="4000" dirty="0"/>
          </a:p>
        </p:txBody>
      </p:sp>
      <p:sp>
        <p:nvSpPr>
          <p:cNvPr id="12" name="Text 10"/>
          <p:cNvSpPr txBox="1"/>
          <p:nvPr/>
        </p:nvSpPr>
        <p:spPr>
          <a:xfrm>
            <a:off x="6461608" y="2395728"/>
            <a:ext cx="2110664" cy="566928"/>
          </a:xfrm>
          <a:prstGeom prst="rect">
            <a:avLst/>
          </a:prstGeom>
          <a:noFill/>
          <a:ln/>
        </p:spPr>
        <p:txBody>
          <a:bodyPr wrap="square" lIns="0" tIns="0" rIns="0" bIns="0" rtlCol="0" anchor="t"/>
          <a:lstStyle/>
          <a:p>
            <a:pPr indent="0" marL="0">
              <a:buNone/>
            </a:pPr>
            <a:r>
              <a:rPr lang="en-US" sz="1400" dirty="0">
                <a:solidFill>
                  <a:schemeClr val="tx1"/>
                </a:solidFill>
              </a:rPr>
              <a:t>4 workers vs 1 on 3 cores: 9.06 s → 3.24 s</a:t>
            </a:r>
            <a:endParaRPr lang="en-US" sz="1400" dirty="0"/>
          </a:p>
        </p:txBody>
      </p:sp>
      <p:sp>
        <p:nvSpPr>
          <p:cNvPr id="13" name="tile 4"/>
          <p:cNvSpPr/>
          <p:nvPr/>
        </p:nvSpPr>
        <p:spPr>
          <a:xfrm>
            <a:off x="9075191" y="1645920"/>
            <a:ext cx="2567864" cy="1417320"/>
          </a:xfrm>
          <a:prstGeom prst="roundRect">
            <a:avLst>
              <a:gd name="adj" fmla="val 7742"/>
            </a:avLst>
          </a:prstGeom>
          <a:solidFill>
            <a:srgbClr val="ECF7F0"/>
          </a:solidFill>
          <a:ln w="12700">
            <a:solidFill>
              <a:srgbClr val="D1D5DB"/>
            </a:solidFill>
            <a:prstDash val="solid"/>
          </a:ln>
        </p:spPr>
      </p:sp>
      <p:sp>
        <p:nvSpPr>
          <p:cNvPr id="14" name="Text 12"/>
          <p:cNvSpPr txBox="1"/>
          <p:nvPr/>
        </p:nvSpPr>
        <p:spPr>
          <a:xfrm>
            <a:off x="9303791" y="1755648"/>
            <a:ext cx="2110664" cy="640080"/>
          </a:xfrm>
          <a:prstGeom prst="rect">
            <a:avLst/>
          </a:prstGeom>
          <a:noFill/>
          <a:ln/>
        </p:spPr>
        <p:txBody>
          <a:bodyPr wrap="square" lIns="0" tIns="0" rIns="0" bIns="0" rtlCol="0" anchor="ctr"/>
          <a:lstStyle/>
          <a:p>
            <a:pPr indent="0" marL="0">
              <a:buNone/>
            </a:pPr>
            <a:r>
              <a:rPr lang="en-US" sz="4000" b="1" dirty="0">
                <a:solidFill>
                  <a:srgbClr val="15803D"/>
                </a:solidFill>
              </a:rPr>
              <a:t>Identical</a:t>
            </a:r>
            <a:endParaRPr lang="en-US" sz="4000" dirty="0"/>
          </a:p>
        </p:txBody>
      </p:sp>
      <p:sp>
        <p:nvSpPr>
          <p:cNvPr id="15" name="Text 13"/>
          <p:cNvSpPr txBox="1"/>
          <p:nvPr/>
        </p:nvSpPr>
        <p:spPr>
          <a:xfrm>
            <a:off x="9303791" y="2395728"/>
            <a:ext cx="2110664" cy="566928"/>
          </a:xfrm>
          <a:prstGeom prst="rect">
            <a:avLst/>
          </a:prstGeom>
          <a:noFill/>
          <a:ln/>
        </p:spPr>
        <p:txBody>
          <a:bodyPr wrap="square" lIns="0" tIns="0" rIns="0" bIns="0" rtlCol="0" anchor="t"/>
          <a:lstStyle/>
          <a:p>
            <a:pPr indent="0" marL="0">
              <a:buNone/>
            </a:pPr>
            <a:r>
              <a:rPr lang="en-US" sz="1400" dirty="0">
                <a:solidFill>
                  <a:schemeClr val="tx1"/>
                </a:solidFill>
              </a:rPr>
              <a:t>Scenario results on x86 and s390x, all 5 rows</a:t>
            </a:r>
            <a:endParaRPr lang="en-US" sz="1400" dirty="0"/>
          </a:p>
        </p:txBody>
      </p:sp>
      <p:graphicFrame>
        <p:nvGraphicFramePr>
          <p:cNvPr id="4" name="scenario table"/>
          <p:cNvGraphicFramePr>
            <a:graphicFrameLocks noGrp="1"/>
          </p:cNvGraphicFramePr>
          <p:nvPr>
            <p:extLst>
              <p:ext uri="{D42A27DB-BD31-4B8C-83A1-F6EECF244321}">
                <p14:modId xmlns:p14="http://schemas.microsoft.com/office/powerpoint/2010/main" val="1579011935"/>
              </p:ext>
            </p:extLst>
          </p:nvPr>
        </p:nvGraphicFramePr>
        <p:xfrm>
          <a:off x="548640" y="3364992"/>
          <a:ext cx="11094415" cy="914400"/>
        </p:xfrm>
        <a:graphic>
          <a:graphicData uri="http://schemas.openxmlformats.org/drawingml/2006/table">
            <a:tbl>
              <a:tblPr/>
              <a:tblGrid>
                <a:gridCol w="2240280"/>
                <a:gridCol w="1691640"/>
                <a:gridCol w="1417320"/>
                <a:gridCol w="3291840"/>
                <a:gridCol w="2453335"/>
              </a:tblGrid>
              <a:tr h="40233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Scenario</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0B5CA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Urgent seen late</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0B5CA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Left unseen</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0B5CA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Recommended plan</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0B5CA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Gain, points (95% range)</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0B5CAD"/>
                    </a:solidFill>
                  </a:tcPr>
                </a:tc>
              </a:tr>
              <a:tr h="402336">
                <a:tc>
                  <a:txBody>
                    <a:bodyPr/>
                    <a:lstStyle/>
                    <a:p>
                      <a:pPr indent="0" marL="0">
                        <a:buNone/>
                      </a:pPr>
                      <a:r>
                        <a:rPr lang="en-US" sz="1400" dirty="0">
                          <a:solidFill>
                            <a:srgbClr val="111827"/>
                          </a:solidFill>
                          <a:latin typeface="Calibri" pitchFamily="34" charset="0"/>
                          <a:ea typeface="Calibri" pitchFamily="34" charset="-122"/>
                          <a:cs typeface="Calibri" pitchFamily="34" charset="-120"/>
                        </a:rPr>
                        <a:t>Normal day</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dirty="0">
                          <a:solidFill>
                            <a:srgbClr val="111827"/>
                          </a:solidFill>
                          <a:latin typeface="Calibri" pitchFamily="34" charset="0"/>
                          <a:ea typeface="Calibri" pitchFamily="34" charset="-122"/>
                          <a:cs typeface="Calibri" pitchFamily="34" charset="-120"/>
                        </a:rPr>
                        <a:t>13.8%</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dirty="0">
                          <a:solidFill>
                            <a:srgbClr val="111827"/>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b="1" dirty="0">
                          <a:solidFill>
                            <a:srgbClr val="111827"/>
                          </a:solidFill>
                          <a:latin typeface="Calibri" pitchFamily="34" charset="0"/>
                          <a:ea typeface="Calibri" pitchFamily="34" charset="-122"/>
                          <a:cs typeface="Calibri" pitchFamily="34" charset="-120"/>
                        </a:rPr>
                        <a:t>Do nothing</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4B5563"/>
                          </a:solidFill>
                          <a:latin typeface="Calibri" pitchFamily="34" charset="0"/>
                          <a:ea typeface="Calibri" pitchFamily="34" charset="-122"/>
                          <a:cs typeface="Calibri" pitchFamily="34" charset="-120"/>
                        </a:rPr>
                        <a:t>Below gate (+0.3 to +1.9)</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402336">
                <a:tc>
                  <a:txBody>
                    <a:bodyPr/>
                    <a:lstStyle/>
                    <a:p>
                      <a:pPr indent="0" marL="0">
                        <a:buNone/>
                      </a:pPr>
                      <a:r>
                        <a:rPr lang="en-US" sz="1400" dirty="0">
                          <a:solidFill>
                            <a:srgbClr val="111827"/>
                          </a:solidFill>
                          <a:latin typeface="Calibri" pitchFamily="34" charset="0"/>
                          <a:ea typeface="Calibri" pitchFamily="34" charset="-122"/>
                          <a:cs typeface="Calibri" pitchFamily="34" charset="-120"/>
                        </a:rPr>
                        <a:t>Heatwave</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b="1" dirty="0">
                          <a:solidFill>
                            <a:srgbClr val="B45309"/>
                          </a:solidFill>
                          <a:latin typeface="Calibri" pitchFamily="34" charset="0"/>
                          <a:ea typeface="Calibri" pitchFamily="34" charset="-122"/>
                          <a:cs typeface="Calibri" pitchFamily="34" charset="-120"/>
                        </a:rPr>
                        <a:t>26.7%</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b="1" dirty="0">
                          <a:solidFill>
                            <a:srgbClr val="B45309"/>
                          </a:solidFill>
                          <a:latin typeface="Calibri" pitchFamily="34" charset="0"/>
                          <a:ea typeface="Calibri" pitchFamily="34" charset="-122"/>
                          <a:cs typeface="Calibri" pitchFamily="34" charset="-120"/>
                        </a:rPr>
                        <a:t>6.8%</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11827"/>
                          </a:solidFill>
                          <a:latin typeface="Calibri" pitchFamily="34" charset="0"/>
                          <a:ea typeface="Calibri" pitchFamily="34" charset="-122"/>
                          <a:cs typeface="Calibri" pitchFamily="34" charset="-120"/>
                        </a:rPr>
                        <a:t>+1 clinician 12:00–18:00, fast track</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+12.8 (+8.8 to +16.7)</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402336">
                <a:tc>
                  <a:txBody>
                    <a:bodyPr/>
                    <a:lstStyle/>
                    <a:p>
                      <a:pPr indent="0" marL="0">
                        <a:buNone/>
                      </a:pPr>
                      <a:r>
                        <a:rPr lang="en-US" sz="1400" dirty="0">
                          <a:solidFill>
                            <a:srgbClr val="111827"/>
                          </a:solidFill>
                          <a:latin typeface="Calibri" pitchFamily="34" charset="0"/>
                          <a:ea typeface="Calibri" pitchFamily="34" charset="-122"/>
                          <a:cs typeface="Calibri" pitchFamily="34" charset="-120"/>
                        </a:rPr>
                        <a:t>Hurricane</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b="1" dirty="0">
                          <a:solidFill>
                            <a:srgbClr val="B45309"/>
                          </a:solidFill>
                          <a:latin typeface="Calibri" pitchFamily="34" charset="0"/>
                          <a:ea typeface="Calibri" pitchFamily="34" charset="-122"/>
                          <a:cs typeface="Calibri" pitchFamily="34" charset="-120"/>
                        </a:rPr>
                        <a:t>22.3%</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b="1" dirty="0">
                          <a:solidFill>
                            <a:srgbClr val="B45309"/>
                          </a:solidFill>
                          <a:latin typeface="Calibri" pitchFamily="34" charset="0"/>
                          <a:ea typeface="Calibri" pitchFamily="34" charset="-122"/>
                          <a:cs typeface="Calibri" pitchFamily="34" charset="-120"/>
                        </a:rPr>
                        <a:t>5.2%</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11827"/>
                          </a:solidFill>
                          <a:latin typeface="Calibri" pitchFamily="34" charset="0"/>
                          <a:ea typeface="Calibri" pitchFamily="34" charset="-122"/>
                          <a:cs typeface="Calibri" pitchFamily="34" charset="-120"/>
                        </a:rPr>
                        <a:t>+1 clinician 12:00–18:00</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+8.5 (+5.1 to +11.9)</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402336">
                <a:tc>
                  <a:txBody>
                    <a:bodyPr/>
                    <a:lstStyle/>
                    <a:p>
                      <a:pPr indent="0" marL="0">
                        <a:buNone/>
                      </a:pPr>
                      <a:r>
                        <a:rPr lang="en-US" sz="1400" dirty="0">
                          <a:solidFill>
                            <a:srgbClr val="111827"/>
                          </a:solidFill>
                          <a:latin typeface="Calibri" pitchFamily="34" charset="0"/>
                          <a:ea typeface="Calibri" pitchFamily="34" charset="-122"/>
                          <a:cs typeface="Calibri" pitchFamily="34" charset="-120"/>
                        </a:rPr>
                        <a:t>Hurricane + burst</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b="1" dirty="0">
                          <a:solidFill>
                            <a:srgbClr val="B45309"/>
                          </a:solidFill>
                          <a:latin typeface="Calibri" pitchFamily="34" charset="0"/>
                          <a:ea typeface="Calibri" pitchFamily="34" charset="-122"/>
                          <a:cs typeface="Calibri" pitchFamily="34" charset="-120"/>
                        </a:rPr>
                        <a:t>45.0%</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b="1" dirty="0">
                          <a:solidFill>
                            <a:srgbClr val="B45309"/>
                          </a:solidFill>
                          <a:latin typeface="Calibri" pitchFamily="34" charset="0"/>
                          <a:ea typeface="Calibri" pitchFamily="34" charset="-122"/>
                          <a:cs typeface="Calibri" pitchFamily="34" charset="-120"/>
                        </a:rPr>
                        <a:t>11.1%</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11827"/>
                          </a:solidFill>
                          <a:latin typeface="Calibri" pitchFamily="34" charset="0"/>
                          <a:ea typeface="Calibri" pitchFamily="34" charset="-122"/>
                          <a:cs typeface="Calibri" pitchFamily="34" charset="-120"/>
                        </a:rPr>
                        <a:t>+1 clinician 12:00–18:00</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+10.7 (+7.7 to +13.6)</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402336">
                <a:tc>
                  <a:txBody>
                    <a:bodyPr/>
                    <a:lstStyle/>
                    <a:p>
                      <a:pPr indent="0" marL="0">
                        <a:buNone/>
                      </a:pPr>
                      <a:r>
                        <a:rPr lang="en-US" sz="1400" dirty="0">
                          <a:solidFill>
                            <a:srgbClr val="111827"/>
                          </a:solidFill>
                          <a:latin typeface="Calibri" pitchFamily="34" charset="0"/>
                          <a:ea typeface="Calibri" pitchFamily="34" charset="-122"/>
                          <a:cs typeface="Calibri" pitchFamily="34" charset="-120"/>
                        </a:rPr>
                        <a:t>Heatwave × hurricane</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b="1" dirty="0">
                          <a:solidFill>
                            <a:srgbClr val="B45309"/>
                          </a:solidFill>
                          <a:latin typeface="Calibri" pitchFamily="34" charset="0"/>
                          <a:ea typeface="Calibri" pitchFamily="34" charset="-122"/>
                          <a:cs typeface="Calibri" pitchFamily="34" charset="-120"/>
                        </a:rPr>
                        <a:t>38.9%</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r" indent="0" marL="0">
                        <a:buNone/>
                      </a:pPr>
                      <a:r>
                        <a:rPr lang="en-US" sz="1400" b="1" dirty="0">
                          <a:solidFill>
                            <a:srgbClr val="B45309"/>
                          </a:solidFill>
                          <a:latin typeface="Calibri" pitchFamily="34" charset="0"/>
                          <a:ea typeface="Calibri" pitchFamily="34" charset="-122"/>
                          <a:cs typeface="Calibri" pitchFamily="34" charset="-120"/>
                        </a:rPr>
                        <a:t>11.8%</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11827"/>
                          </a:solidFill>
                          <a:latin typeface="Calibri" pitchFamily="34" charset="0"/>
                          <a:ea typeface="Calibri" pitchFamily="34" charset="-122"/>
                          <a:cs typeface="Calibri" pitchFamily="34" charset="-120"/>
                        </a:rPr>
                        <a:t>+1 clinician 12:00–18:00, fast track</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+19.7 (+15.8 to +23.5)</a:t>
                      </a:r>
                      <a:endParaRPr lang="en-US" sz="1400" dirty="0">
                        <a:latin typeface="Calibri" charset="0"/>
                        <a:ea typeface="Calibri" charset="0"/>
                        <a:cs typeface="Calibri" charset="0"/>
                      </a:endParaRPr>
                    </a:p>
                  </a:txBody>
                  <a:tcPr marL="109728" marR="109728" marT="0" marB="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bl>
          </a:graphicData>
        </a:graphic>
      </p:graphicFrame>
      <p:sp>
        <p:nvSpPr>
          <p:cNvPr id="17" name="Text 14"/>
          <p:cNvSpPr txBox="1"/>
          <p:nvPr/>
        </p:nvSpPr>
        <p:spPr>
          <a:xfrm>
            <a:off x="548640" y="5870448"/>
            <a:ext cx="11094415" cy="365760"/>
          </a:xfrm>
          <a:prstGeom prst="rect">
            <a:avLst/>
          </a:prstGeom>
          <a:noFill/>
          <a:ln/>
        </p:spPr>
        <p:txBody>
          <a:bodyPr wrap="square" lIns="0" tIns="0" rIns="0" bIns="0" rtlCol="0" anchor="t"/>
          <a:lstStyle/>
          <a:p>
            <a:pPr indent="0" marL="0">
              <a:buNone/>
            </a:pPr>
            <a:r>
              <a:rPr lang="en-US" sz="1200" dirty="0">
                <a:solidFill>
                  <a:srgbClr val="6B7280"/>
                </a:solidFill>
              </a:rPr>
              <a:t>50 simulated days per scenario, reference ED. Gain = percentage points of urgent patients seen on time vs doing nothing, paired on the same days.</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4B556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400" b="1" spc="200" kern="0" dirty="0">
                <a:solidFill>
                  <a:schemeClr val="accent1"/>
                </a:solidFill>
              </a:rPr>
              <a:t>FROM BASELINE TO AI ON IBM Z</a:t>
            </a:r>
            <a:endParaRPr lang="en-US" sz="1400" dirty="0"/>
          </a:p>
        </p:txBody>
      </p:sp>
      <p:sp>
        <p:nvSpPr>
          <p:cNvPr id="3" name="Text 0"/>
          <p:cNvSpPr/>
          <p:nvPr>
            <p:ph idx="101" type="title" hasCustomPrompt="1"/>
          </p:nvPr>
        </p:nvSpPr>
        <p:spPr>
          <a:xfrm>
            <a:off x="548640" y="694944"/>
            <a:ext cx="11094415" cy="822960"/>
          </a:xfrm>
          <a:prstGeom prst="rect">
            <a:avLst/>
          </a:prstGeom>
          <a:noFill/>
          <a:ln/>
        </p:spPr>
        <p:txBody>
          <a:bodyPr wrap="square" lIns="0" tIns="0" rIns="0" bIns="0" rtlCol="0" anchor="t"/>
          <a:lstStyle/>
          <a:p>
            <a:pPr algn="l" indent="0" marL="0">
              <a:buNone/>
            </a:pPr>
            <a:r>
              <a:rPr lang="en-US" sz="3200" b="1" dirty="0">
                <a:solidFill>
                  <a:schemeClr val="tx1"/>
                </a:solidFill>
              </a:rPr>
              <a:t>Today's models retrain on LinuxONE; next they run on Telum</a:t>
            </a:r>
            <a:endParaRPr lang="en-US" sz="3200" dirty="0"/>
          </a:p>
        </p:txBody>
      </p:sp>
      <p:sp>
        <p:nvSpPr>
          <p:cNvPr id="4" name="Shape 2"/>
          <p:cNvSpPr/>
          <p:nvPr/>
        </p:nvSpPr>
        <p:spPr>
          <a:xfrm>
            <a:off x="2291029" y="1920240"/>
            <a:ext cx="7609637" cy="0"/>
          </a:xfrm>
          <a:prstGeom prst="line">
            <a:avLst/>
          </a:prstGeom>
          <a:noFill/>
          <a:ln w="31750">
            <a:solidFill>
              <a:srgbClr val="D1D5DB"/>
            </a:solidFill>
            <a:prstDash val="solid"/>
          </a:ln>
        </p:spPr>
      </p:sp>
      <p:sp>
        <p:nvSpPr>
          <p:cNvPr id="5" name="node 1"/>
          <p:cNvSpPr/>
          <p:nvPr/>
        </p:nvSpPr>
        <p:spPr>
          <a:xfrm>
            <a:off x="2108149" y="1737360"/>
            <a:ext cx="365760" cy="365760"/>
          </a:xfrm>
          <a:prstGeom prst="ellipse">
            <a:avLst/>
          </a:prstGeom>
          <a:solidFill>
            <a:srgbClr val="15803D"/>
          </a:solidFill>
          <a:ln w="38100">
            <a:solidFill>
              <a:srgbClr val="15803D"/>
            </a:solidFill>
            <a:prstDash val="solid"/>
          </a:ln>
        </p:spPr>
      </p:sp>
      <p:sp>
        <p:nvSpPr>
          <p:cNvPr id="6" name="stage 1"/>
          <p:cNvSpPr/>
          <p:nvPr/>
        </p:nvSpPr>
        <p:spPr>
          <a:xfrm>
            <a:off x="548640" y="2331720"/>
            <a:ext cx="3484778" cy="3246120"/>
          </a:xfrm>
          <a:prstGeom prst="roundRect">
            <a:avLst>
              <a:gd name="adj" fmla="val 3380"/>
            </a:avLst>
          </a:prstGeom>
          <a:solidFill>
            <a:srgbClr val="ECF7F0"/>
          </a:solidFill>
          <a:ln w="15875">
            <a:solidFill>
              <a:srgbClr val="ECF7F0"/>
            </a:solidFill>
            <a:prstDash val="solid"/>
          </a:ln>
        </p:spPr>
      </p:sp>
      <p:sp>
        <p:nvSpPr>
          <p:cNvPr id="7" name="Text 5"/>
          <p:cNvSpPr txBox="1"/>
          <p:nvPr/>
        </p:nvSpPr>
        <p:spPr>
          <a:xfrm>
            <a:off x="822960" y="2560320"/>
            <a:ext cx="2936138" cy="320040"/>
          </a:xfrm>
          <a:prstGeom prst="rect">
            <a:avLst/>
          </a:prstGeom>
          <a:noFill/>
          <a:ln/>
        </p:spPr>
        <p:txBody>
          <a:bodyPr wrap="square" lIns="0" tIns="0" rIns="0" bIns="0" rtlCol="0" anchor="t"/>
          <a:lstStyle/>
          <a:p>
            <a:pPr indent="0" marL="0">
              <a:buNone/>
            </a:pPr>
            <a:r>
              <a:rPr lang="en-US" sz="1300" b="1" spc="100" kern="0" dirty="0">
                <a:solidFill>
                  <a:srgbClr val="15803D"/>
                </a:solidFill>
              </a:rPr>
              <a:t>TODAY  ·  BUILT</a:t>
            </a:r>
            <a:endParaRPr lang="en-US" sz="1300" dirty="0"/>
          </a:p>
        </p:txBody>
      </p:sp>
      <p:sp>
        <p:nvSpPr>
          <p:cNvPr id="8" name="Text 6"/>
          <p:cNvSpPr txBox="1"/>
          <p:nvPr/>
        </p:nvSpPr>
        <p:spPr>
          <a:xfrm>
            <a:off x="822960" y="2926080"/>
            <a:ext cx="2936138" cy="457200"/>
          </a:xfrm>
          <a:prstGeom prst="rect">
            <a:avLst/>
          </a:prstGeom>
          <a:noFill/>
          <a:ln/>
        </p:spPr>
        <p:txBody>
          <a:bodyPr wrap="square" lIns="0" tIns="0" rIns="0" bIns="0" rtlCol="0" anchor="t"/>
          <a:lstStyle/>
          <a:p>
            <a:pPr indent="0" marL="0">
              <a:buNone/>
            </a:pPr>
            <a:r>
              <a:rPr lang="en-US" sz="2200" b="1" dirty="0">
                <a:solidFill>
                  <a:schemeClr val="tx1"/>
                </a:solidFill>
              </a:rPr>
              <a:t>Classical ML on Z</a:t>
            </a:r>
            <a:endParaRPr lang="en-US" sz="2200" dirty="0"/>
          </a:p>
        </p:txBody>
      </p:sp>
      <p:sp>
        <p:nvSpPr>
          <p:cNvPr id="9" name="Text 7"/>
          <p:cNvSpPr txBox="1"/>
          <p:nvPr/>
        </p:nvSpPr>
        <p:spPr>
          <a:xfrm>
            <a:off x="822960" y="3566160"/>
            <a:ext cx="2936138" cy="18745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2"/>
                </a:solidFill>
              </a:rPr>
              <a:t>XGBoost early warning retrained in 90 s on s390x</a:t>
            </a:r>
            <a:endParaRPr lang="en-US" sz="1500" dirty="0"/>
          </a:p>
          <a:p>
            <a:pPr marL="203200" indent="-203200">
              <a:spcAft>
                <a:spcPts val="800"/>
              </a:spcAft>
              <a:buSzPct val="100000"/>
              <a:buChar char="•"/>
            </a:pPr>
            <a:r>
              <a:rPr lang="en-US" sz="1500" dirty="0">
                <a:solidFill>
                  <a:schemeClr val="tx2"/>
                </a:solidFill>
              </a:rPr>
              <a:t>Urgent-late AUC 0.873; flags 82% of risky moments at 5% false alarms</a:t>
            </a:r>
            <a:endParaRPr lang="en-US" sz="1500" dirty="0"/>
          </a:p>
          <a:p>
            <a:pPr marL="203200" indent="-203200">
              <a:spcAft>
                <a:spcPts val="800"/>
              </a:spcAft>
              <a:buSzPct val="100000"/>
              <a:buChar char="•"/>
            </a:pPr>
            <a:r>
              <a:rPr lang="en-US" sz="1500" dirty="0">
                <a:solidFill>
                  <a:schemeClr val="tx2"/>
                </a:solidFill>
              </a:rPr>
              <a:t>Models saved as JSON; they load on big‑endian s390x</a:t>
            </a:r>
            <a:endParaRPr lang="en-US" sz="1500" dirty="0"/>
          </a:p>
        </p:txBody>
      </p:sp>
      <p:sp>
        <p:nvSpPr>
          <p:cNvPr id="10" name="node 2"/>
          <p:cNvSpPr/>
          <p:nvPr/>
        </p:nvSpPr>
        <p:spPr>
          <a:xfrm>
            <a:off x="5912968" y="1737360"/>
            <a:ext cx="365760" cy="365760"/>
          </a:xfrm>
          <a:prstGeom prst="ellipse">
            <a:avLst/>
          </a:prstGeom>
          <a:solidFill>
            <a:srgbClr val="FFFFFF"/>
          </a:solidFill>
          <a:ln w="38100">
            <a:solidFill>
              <a:srgbClr val="0B5CAD"/>
            </a:solidFill>
            <a:prstDash val="solid"/>
          </a:ln>
        </p:spPr>
      </p:sp>
      <p:sp>
        <p:nvSpPr>
          <p:cNvPr id="11" name="stage 2"/>
          <p:cNvSpPr/>
          <p:nvPr/>
        </p:nvSpPr>
        <p:spPr>
          <a:xfrm>
            <a:off x="4353458" y="2331720"/>
            <a:ext cx="3484778" cy="3246120"/>
          </a:xfrm>
          <a:prstGeom prst="roundRect">
            <a:avLst>
              <a:gd name="adj" fmla="val 3380"/>
            </a:avLst>
          </a:prstGeom>
          <a:solidFill>
            <a:srgbClr val="FFFFFF"/>
          </a:solidFill>
          <a:ln w="15875">
            <a:solidFill>
              <a:srgbClr val="0B5CAD"/>
            </a:solidFill>
            <a:prstDash val="dash"/>
          </a:ln>
        </p:spPr>
      </p:sp>
      <p:sp>
        <p:nvSpPr>
          <p:cNvPr id="12" name="Text 10"/>
          <p:cNvSpPr txBox="1"/>
          <p:nvPr/>
        </p:nvSpPr>
        <p:spPr>
          <a:xfrm>
            <a:off x="4627778" y="2560320"/>
            <a:ext cx="2936138" cy="320040"/>
          </a:xfrm>
          <a:prstGeom prst="rect">
            <a:avLst/>
          </a:prstGeom>
          <a:noFill/>
          <a:ln/>
        </p:spPr>
        <p:txBody>
          <a:bodyPr wrap="square" lIns="0" tIns="0" rIns="0" bIns="0" rtlCol="0" anchor="t"/>
          <a:lstStyle/>
          <a:p>
            <a:pPr indent="0" marL="0">
              <a:buNone/>
            </a:pPr>
            <a:r>
              <a:rPr lang="en-US" sz="1300" b="1" spc="100" kern="0" dirty="0">
                <a:solidFill>
                  <a:srgbClr val="0B5CAD"/>
                </a:solidFill>
              </a:rPr>
              <a:t>NEXT  ·  FUTURE, NOT BUILT</a:t>
            </a:r>
            <a:endParaRPr lang="en-US" sz="1300" dirty="0"/>
          </a:p>
        </p:txBody>
      </p:sp>
      <p:sp>
        <p:nvSpPr>
          <p:cNvPr id="13" name="Text 11"/>
          <p:cNvSpPr txBox="1"/>
          <p:nvPr/>
        </p:nvSpPr>
        <p:spPr>
          <a:xfrm>
            <a:off x="4627778" y="2926080"/>
            <a:ext cx="2936138" cy="457200"/>
          </a:xfrm>
          <a:prstGeom prst="rect">
            <a:avLst/>
          </a:prstGeom>
          <a:noFill/>
          <a:ln/>
        </p:spPr>
        <p:txBody>
          <a:bodyPr wrap="square" lIns="0" tIns="0" rIns="0" bIns="0" rtlCol="0" anchor="t"/>
          <a:lstStyle/>
          <a:p>
            <a:pPr indent="0" marL="0">
              <a:buNone/>
            </a:pPr>
            <a:r>
              <a:rPr lang="en-US" sz="2200" b="1" dirty="0">
                <a:solidFill>
                  <a:schemeClr val="tx1"/>
                </a:solidFill>
              </a:rPr>
              <a:t>On-chip inference</a:t>
            </a:r>
            <a:endParaRPr lang="en-US" sz="2200" dirty="0"/>
          </a:p>
        </p:txBody>
      </p:sp>
      <p:sp>
        <p:nvSpPr>
          <p:cNvPr id="14" name="Text 12"/>
          <p:cNvSpPr txBox="1"/>
          <p:nvPr/>
        </p:nvSpPr>
        <p:spPr>
          <a:xfrm>
            <a:off x="4627778" y="3566160"/>
            <a:ext cx="2936138" cy="18745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2"/>
                </a:solidFill>
              </a:rPr>
              <a:t>Export the models to ONNX</a:t>
            </a:r>
            <a:endParaRPr lang="en-US" sz="1500" dirty="0"/>
          </a:p>
          <a:p>
            <a:pPr marL="203200" indent="-203200">
              <a:spcAft>
                <a:spcPts val="800"/>
              </a:spcAft>
              <a:buSzPct val="100000"/>
              <a:buChar char="•"/>
            </a:pPr>
            <a:r>
              <a:rPr lang="en-US" sz="1500" dirty="0">
                <a:solidFill>
                  <a:schemeClr val="tx2"/>
                </a:solidFill>
              </a:rPr>
              <a:t>Compile with the IBM Z Deep Learning Compiler</a:t>
            </a:r>
            <a:endParaRPr lang="en-US" sz="1500" dirty="0"/>
          </a:p>
          <a:p>
            <a:pPr marL="203200" indent="-203200">
              <a:spcAft>
                <a:spcPts val="800"/>
              </a:spcAft>
              <a:buSzPct val="100000"/>
              <a:buChar char="•"/>
            </a:pPr>
            <a:r>
              <a:rPr lang="en-US" sz="1500" dirty="0">
                <a:solidFill>
                  <a:schemeClr val="tx2"/>
                </a:solidFill>
              </a:rPr>
              <a:t>Score on the Integrated Accelerator for AI (Telum)</a:t>
            </a:r>
            <a:endParaRPr lang="en-US" sz="1500" dirty="0"/>
          </a:p>
        </p:txBody>
      </p:sp>
      <p:sp>
        <p:nvSpPr>
          <p:cNvPr id="15" name="node 3"/>
          <p:cNvSpPr/>
          <p:nvPr/>
        </p:nvSpPr>
        <p:spPr>
          <a:xfrm>
            <a:off x="9717786" y="1737360"/>
            <a:ext cx="365760" cy="365760"/>
          </a:xfrm>
          <a:prstGeom prst="ellipse">
            <a:avLst/>
          </a:prstGeom>
          <a:solidFill>
            <a:srgbClr val="FFFFFF"/>
          </a:solidFill>
          <a:ln w="38100">
            <a:solidFill>
              <a:srgbClr val="0B5CAD"/>
            </a:solidFill>
            <a:prstDash val="solid"/>
          </a:ln>
        </p:spPr>
      </p:sp>
      <p:sp>
        <p:nvSpPr>
          <p:cNvPr id="16" name="stage 3"/>
          <p:cNvSpPr/>
          <p:nvPr/>
        </p:nvSpPr>
        <p:spPr>
          <a:xfrm>
            <a:off x="8158277" y="2331720"/>
            <a:ext cx="3484778" cy="3246120"/>
          </a:xfrm>
          <a:prstGeom prst="roundRect">
            <a:avLst>
              <a:gd name="adj" fmla="val 3380"/>
            </a:avLst>
          </a:prstGeom>
          <a:solidFill>
            <a:srgbClr val="FFFFFF"/>
          </a:solidFill>
          <a:ln w="15875">
            <a:solidFill>
              <a:srgbClr val="0B5CAD"/>
            </a:solidFill>
            <a:prstDash val="dash"/>
          </a:ln>
        </p:spPr>
      </p:sp>
      <p:sp>
        <p:nvSpPr>
          <p:cNvPr id="17" name="Text 15"/>
          <p:cNvSpPr txBox="1"/>
          <p:nvPr/>
        </p:nvSpPr>
        <p:spPr>
          <a:xfrm>
            <a:off x="8432597" y="2560320"/>
            <a:ext cx="2936138" cy="320040"/>
          </a:xfrm>
          <a:prstGeom prst="rect">
            <a:avLst/>
          </a:prstGeom>
          <a:noFill/>
          <a:ln/>
        </p:spPr>
        <p:txBody>
          <a:bodyPr wrap="square" lIns="0" tIns="0" rIns="0" bIns="0" rtlCol="0" anchor="t"/>
          <a:lstStyle/>
          <a:p>
            <a:pPr indent="0" marL="0">
              <a:buNone/>
            </a:pPr>
            <a:r>
              <a:rPr lang="en-US" sz="1300" b="1" spc="100" kern="0" dirty="0">
                <a:solidFill>
                  <a:srgbClr val="0B5CAD"/>
                </a:solidFill>
              </a:rPr>
              <a:t>LATER  ·  FUTURE, NOT BUILT</a:t>
            </a:r>
            <a:endParaRPr lang="en-US" sz="1300" dirty="0"/>
          </a:p>
        </p:txBody>
      </p:sp>
      <p:sp>
        <p:nvSpPr>
          <p:cNvPr id="18" name="Text 16"/>
          <p:cNvSpPr txBox="1"/>
          <p:nvPr/>
        </p:nvSpPr>
        <p:spPr>
          <a:xfrm>
            <a:off x="8432597" y="2926080"/>
            <a:ext cx="2936138" cy="457200"/>
          </a:xfrm>
          <a:prstGeom prst="rect">
            <a:avLst/>
          </a:prstGeom>
          <a:noFill/>
          <a:ln/>
        </p:spPr>
        <p:txBody>
          <a:bodyPr wrap="square" lIns="0" tIns="0" rIns="0" bIns="0" rtlCol="0" anchor="t"/>
          <a:lstStyle/>
          <a:p>
            <a:pPr indent="0" marL="0">
              <a:buNone/>
            </a:pPr>
            <a:r>
              <a:rPr lang="en-US" sz="2200" b="1" dirty="0">
                <a:solidFill>
                  <a:schemeClr val="tx1"/>
                </a:solidFill>
              </a:rPr>
              <a:t>Live, multi-hospital</a:t>
            </a:r>
            <a:endParaRPr lang="en-US" sz="2200" dirty="0"/>
          </a:p>
        </p:txBody>
      </p:sp>
      <p:sp>
        <p:nvSpPr>
          <p:cNvPr id="19" name="Text 17"/>
          <p:cNvSpPr txBox="1"/>
          <p:nvPr/>
        </p:nvSpPr>
        <p:spPr>
          <a:xfrm>
            <a:off x="8432597" y="3566160"/>
            <a:ext cx="2936138" cy="18745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2"/>
                </a:solidFill>
              </a:rPr>
              <a:t>Real-time HL7 / FHIR feeds from ED systems</a:t>
            </a:r>
            <a:endParaRPr lang="en-US" sz="1500" dirty="0"/>
          </a:p>
          <a:p>
            <a:pPr marL="203200" indent="-203200">
              <a:spcAft>
                <a:spcPts val="800"/>
              </a:spcAft>
              <a:buSzPct val="100000"/>
              <a:buChar char="•"/>
            </a:pPr>
            <a:r>
              <a:rPr lang="en-US" sz="1500" dirty="0">
                <a:solidFill>
                  <a:schemeClr val="tx2"/>
                </a:solidFill>
              </a:rPr>
              <a:t>One LinuxONE serving many hospitals</a:t>
            </a:r>
            <a:endParaRPr lang="en-US" sz="1500" dirty="0"/>
          </a:p>
          <a:p>
            <a:pPr marL="203200" indent="-203200">
              <a:spcAft>
                <a:spcPts val="800"/>
              </a:spcAft>
              <a:buSzPct val="100000"/>
              <a:buChar char="•"/>
            </a:pPr>
            <a:r>
              <a:rPr lang="en-US" sz="1500" dirty="0">
                <a:solidFill>
                  <a:schemeClr val="tx2"/>
                </a:solidFill>
              </a:rPr>
              <a:t>Validation against real hospital outcomes</a:t>
            </a:r>
            <a:endParaRPr lang="en-US" sz="1500" dirty="0"/>
          </a:p>
        </p:txBody>
      </p:sp>
      <p:sp>
        <p:nvSpPr>
          <p:cNvPr id="20" name="Text 18"/>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400" dirty="0">
                <a:solidFill>
                  <a:srgbClr val="6B7280"/>
                </a:solidFill>
              </a:rPr>
              <a:t>Today's early-warning model learns the simulator; it is not validated on a real hospital.</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4B556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400" b="1" spc="200" kern="0" dirty="0">
                <a:solidFill>
                  <a:schemeClr val="accent1"/>
                </a:solidFill>
              </a:rPr>
              <a:t>LIMITS, NEXT STEPS AND TEAM</a:t>
            </a:r>
            <a:endParaRPr lang="en-US" sz="1400" dirty="0"/>
          </a:p>
        </p:txBody>
      </p:sp>
      <p:sp>
        <p:nvSpPr>
          <p:cNvPr id="3" name="Text 0"/>
          <p:cNvSpPr/>
          <p:nvPr>
            <p:ph idx="101" type="title" hasCustomPrompt="1"/>
          </p:nvPr>
        </p:nvSpPr>
        <p:spPr>
          <a:xfrm>
            <a:off x="548640" y="694944"/>
            <a:ext cx="11094415" cy="822960"/>
          </a:xfrm>
          <a:prstGeom prst="rect">
            <a:avLst/>
          </a:prstGeom>
          <a:noFill/>
          <a:ln/>
        </p:spPr>
        <p:txBody>
          <a:bodyPr wrap="square" lIns="0" tIns="0" rIns="0" bIns="0" rtlCol="0" anchor="t"/>
          <a:lstStyle/>
          <a:p>
            <a:pPr algn="l" indent="0" marL="0">
              <a:buNone/>
            </a:pPr>
            <a:r>
              <a:rPr lang="en-US" sz="3200" b="1" dirty="0">
                <a:solidFill>
                  <a:schemeClr val="tx1"/>
                </a:solidFill>
              </a:rPr>
              <a:t>We publish our limits, starting with the gap in urgent wait times</a:t>
            </a:r>
            <a:endParaRPr lang="en-US" sz="3200" dirty="0"/>
          </a:p>
        </p:txBody>
      </p:sp>
      <p:sp>
        <p:nvSpPr>
          <p:cNvPr id="4" name="gap card"/>
          <p:cNvSpPr/>
          <p:nvPr/>
        </p:nvSpPr>
        <p:spPr>
          <a:xfrm>
            <a:off x="548640" y="1737360"/>
            <a:ext cx="5120640" cy="1965960"/>
          </a:xfrm>
          <a:prstGeom prst="roundRect">
            <a:avLst>
              <a:gd name="adj" fmla="val 5581"/>
            </a:avLst>
          </a:prstGeom>
          <a:solidFill>
            <a:srgbClr val="FDF4EA"/>
          </a:solidFill>
          <a:ln w="12700">
            <a:solidFill>
              <a:srgbClr val="D1D5DB"/>
            </a:solidFill>
            <a:prstDash val="solid"/>
          </a:ln>
        </p:spPr>
      </p:sp>
      <p:sp>
        <p:nvSpPr>
          <p:cNvPr id="5" name="Text 3"/>
          <p:cNvSpPr txBox="1"/>
          <p:nvPr/>
        </p:nvSpPr>
        <p:spPr>
          <a:xfrm>
            <a:off x="868680" y="1874520"/>
            <a:ext cx="4480560" cy="1051560"/>
          </a:xfrm>
          <a:prstGeom prst="rect">
            <a:avLst/>
          </a:prstGeom>
          <a:noFill/>
          <a:ln/>
        </p:spPr>
        <p:txBody>
          <a:bodyPr wrap="square" lIns="0" tIns="0" rIns="0" bIns="0" rtlCol="0" anchor="ctr"/>
          <a:lstStyle/>
          <a:p>
            <a:pPr indent="0" marL="0">
              <a:buNone/>
            </a:pPr>
            <a:r>
              <a:rPr lang="en-US" sz="6400" b="1" dirty="0">
                <a:solidFill>
                  <a:srgbClr val="B45309"/>
                </a:solidFill>
              </a:rPr>
              <a:t>5.1</a:t>
            </a:r>
            <a:pPr indent="0" marL="0">
              <a:buNone/>
            </a:pPr>
            <a:r>
              <a:rPr lang="en-US" sz="3600" b="1" dirty="0">
                <a:solidFill>
                  <a:srgbClr val="4B5563"/>
                </a:solidFill>
              </a:rPr>
              <a:t> vs </a:t>
            </a:r>
            <a:pPr indent="0" marL="0">
              <a:buNone/>
            </a:pPr>
            <a:r>
              <a:rPr lang="en-US" sz="6400" b="1" dirty="0">
                <a:solidFill>
                  <a:schemeClr val="tx1"/>
                </a:solidFill>
              </a:rPr>
              <a:t>15.0</a:t>
            </a:r>
            <a:pPr indent="0" marL="0">
              <a:buNone/>
            </a:pPr>
            <a:r>
              <a:rPr lang="en-US" sz="3600" b="1" dirty="0">
                <a:solidFill>
                  <a:srgbClr val="4B5563"/>
                </a:solidFill>
              </a:rPr>
              <a:t> min</a:t>
            </a:r>
            <a:endParaRPr lang="en-US" sz="6400" dirty="0"/>
          </a:p>
        </p:txBody>
      </p:sp>
      <p:sp>
        <p:nvSpPr>
          <p:cNvPr id="6" name="Text 4"/>
          <p:cNvSpPr txBox="1"/>
          <p:nvPr/>
        </p:nvSpPr>
        <p:spPr>
          <a:xfrm>
            <a:off x="868680" y="2926080"/>
            <a:ext cx="4480560" cy="640080"/>
          </a:xfrm>
          <a:prstGeom prst="rect">
            <a:avLst/>
          </a:prstGeom>
          <a:noFill/>
          <a:ln/>
        </p:spPr>
        <p:txBody>
          <a:bodyPr wrap="square" lIns="0" tIns="0" rIns="0" bIns="0" rtlCol="0" anchor="t"/>
          <a:lstStyle/>
          <a:p>
            <a:pPr indent="0" marL="0">
              <a:buNone/>
            </a:pPr>
            <a:r>
              <a:rPr lang="en-US" sz="1500" dirty="0">
                <a:solidFill>
                  <a:schemeClr val="tx1"/>
                </a:solidFill>
              </a:rPr>
              <a:t>Urgent median wait: simulated normal day vs NHAMCS 2022. We report this gap rather than hide it.</a:t>
            </a:r>
            <a:endParaRPr lang="en-US" sz="1500" dirty="0"/>
          </a:p>
        </p:txBody>
      </p:sp>
      <p:sp>
        <p:nvSpPr>
          <p:cNvPr id="7" name="Text 5"/>
          <p:cNvSpPr txBox="1"/>
          <p:nvPr/>
        </p:nvSpPr>
        <p:spPr>
          <a:xfrm>
            <a:off x="548640" y="3931920"/>
            <a:ext cx="5120640" cy="13258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2"/>
                </a:solidFill>
              </a:rPr>
              <a:t>A simulation, not validated on a real hospital</a:t>
            </a:r>
            <a:endParaRPr lang="en-US" sz="1500" dirty="0"/>
          </a:p>
          <a:p>
            <a:pPr marL="203200" indent="-203200">
              <a:spcAft>
                <a:spcPts val="600"/>
              </a:spcAft>
              <a:buSzPct val="100000"/>
              <a:buChar char="•"/>
            </a:pPr>
            <a:r>
              <a:rPr lang="en-US" sz="1500" dirty="0">
                <a:solidFill>
                  <a:schemeClr val="tx2"/>
                </a:solidFill>
              </a:rPr>
              <a:t>National survey sample (about 40% response), not one ED</a:t>
            </a:r>
            <a:endParaRPr lang="en-US" sz="1500" dirty="0"/>
          </a:p>
          <a:p>
            <a:pPr marL="203200" indent="-203200">
              <a:buSzPct val="100000"/>
              <a:buChar char="•"/>
            </a:pPr>
            <a:r>
              <a:rPr lang="en-US" sz="1500" dirty="0">
                <a:solidFill>
                  <a:schemeClr val="tx2"/>
                </a:solidFill>
              </a:rPr>
              <a:t>Patience, fast track and costs are assumptions (README)</a:t>
            </a:r>
            <a:endParaRPr lang="en-US" sz="1500" dirty="0"/>
          </a:p>
        </p:txBody>
      </p:sp>
      <p:sp>
        <p:nvSpPr>
          <p:cNvPr id="8" name="Text 6"/>
          <p:cNvSpPr txBox="1"/>
          <p:nvPr/>
        </p:nvSpPr>
        <p:spPr>
          <a:xfrm>
            <a:off x="6217920" y="1737360"/>
            <a:ext cx="5425135" cy="411480"/>
          </a:xfrm>
          <a:prstGeom prst="rect">
            <a:avLst/>
          </a:prstGeom>
          <a:noFill/>
          <a:ln/>
        </p:spPr>
        <p:txBody>
          <a:bodyPr wrap="square" lIns="0" tIns="0" rIns="0" bIns="0" rtlCol="0" anchor="t"/>
          <a:lstStyle/>
          <a:p>
            <a:pPr indent="0" marL="0">
              <a:buNone/>
            </a:pPr>
            <a:r>
              <a:rPr lang="en-US" sz="2200" b="1" dirty="0">
                <a:solidFill>
                  <a:srgbClr val="0B5CAD"/>
                </a:solidFill>
              </a:rPr>
              <a:t>Next steps</a:t>
            </a:r>
            <a:endParaRPr lang="en-US" sz="2200" dirty="0"/>
          </a:p>
        </p:txBody>
      </p:sp>
      <p:sp>
        <p:nvSpPr>
          <p:cNvPr id="9" name="next 1"/>
          <p:cNvSpPr/>
          <p:nvPr/>
        </p:nvSpPr>
        <p:spPr>
          <a:xfrm>
            <a:off x="6217920" y="2313432"/>
            <a:ext cx="411480" cy="411480"/>
          </a:xfrm>
          <a:prstGeom prst="ellipse">
            <a:avLst/>
          </a:prstGeom>
          <a:solidFill>
            <a:srgbClr val="15803D"/>
          </a:solidFill>
          <a:ln w="12700">
            <a:solidFill>
              <a:srgbClr val="15803D"/>
            </a:solidFill>
            <a:prstDash val="solid"/>
          </a:ln>
        </p:spPr>
      </p:sp>
      <p:sp>
        <p:nvSpPr>
          <p:cNvPr id="10" name="Text 8"/>
          <p:cNvSpPr txBox="1"/>
          <p:nvPr/>
        </p:nvSpPr>
        <p:spPr>
          <a:xfrm>
            <a:off x="6217920" y="231343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txBox="1"/>
          <p:nvPr/>
        </p:nvSpPr>
        <p:spPr>
          <a:xfrm>
            <a:off x="6812280" y="2286000"/>
            <a:ext cx="4830775" cy="329184"/>
          </a:xfrm>
          <a:prstGeom prst="rect">
            <a:avLst/>
          </a:prstGeom>
          <a:noFill/>
          <a:ln/>
        </p:spPr>
        <p:txBody>
          <a:bodyPr wrap="square" lIns="0" tIns="0" rIns="0" bIns="0" rtlCol="0" anchor="t"/>
          <a:lstStyle/>
          <a:p>
            <a:pPr indent="0" marL="0">
              <a:buNone/>
            </a:pPr>
            <a:r>
              <a:rPr lang="en-US" sz="1700" b="1" dirty="0">
                <a:solidFill>
                  <a:schemeClr val="tx1"/>
                </a:solidFill>
              </a:rPr>
              <a:t>Close the wait gap</a:t>
            </a:r>
            <a:endParaRPr lang="en-US" sz="1700" dirty="0"/>
          </a:p>
        </p:txBody>
      </p:sp>
      <p:sp>
        <p:nvSpPr>
          <p:cNvPr id="12" name="Text 10"/>
          <p:cNvSpPr txBox="1"/>
          <p:nvPr/>
        </p:nvSpPr>
        <p:spPr>
          <a:xfrm>
            <a:off x="6812280" y="2633472"/>
            <a:ext cx="4830775" cy="502920"/>
          </a:xfrm>
          <a:prstGeom prst="rect">
            <a:avLst/>
          </a:prstGeom>
          <a:noFill/>
          <a:ln/>
        </p:spPr>
        <p:txBody>
          <a:bodyPr wrap="square" lIns="0" tIns="0" rIns="0" bIns="0" rtlCol="0" anchor="t"/>
          <a:lstStyle/>
          <a:p>
            <a:pPr indent="0" marL="0">
              <a:buNone/>
            </a:pPr>
            <a:r>
              <a:rPr lang="en-US" sz="1400" dirty="0">
                <a:solidFill>
                  <a:schemeClr val="tx2"/>
                </a:solidFill>
              </a:rPr>
              <a:t>Boarding and patience from NHAMCS, not fixed values</a:t>
            </a:r>
            <a:endParaRPr lang="en-US" sz="1400" dirty="0"/>
          </a:p>
        </p:txBody>
      </p:sp>
      <p:sp>
        <p:nvSpPr>
          <p:cNvPr id="13" name="next 2"/>
          <p:cNvSpPr/>
          <p:nvPr/>
        </p:nvSpPr>
        <p:spPr>
          <a:xfrm>
            <a:off x="6217920" y="3300984"/>
            <a:ext cx="411480" cy="411480"/>
          </a:xfrm>
          <a:prstGeom prst="ellipse">
            <a:avLst/>
          </a:prstGeom>
          <a:solidFill>
            <a:srgbClr val="15803D"/>
          </a:solidFill>
          <a:ln w="12700">
            <a:solidFill>
              <a:srgbClr val="15803D"/>
            </a:solidFill>
            <a:prstDash val="solid"/>
          </a:ln>
        </p:spPr>
      </p:sp>
      <p:sp>
        <p:nvSpPr>
          <p:cNvPr id="14" name="Text 12"/>
          <p:cNvSpPr txBox="1"/>
          <p:nvPr/>
        </p:nvSpPr>
        <p:spPr>
          <a:xfrm>
            <a:off x="6217920" y="330098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txBox="1"/>
          <p:nvPr/>
        </p:nvSpPr>
        <p:spPr>
          <a:xfrm>
            <a:off x="6812280" y="3273552"/>
            <a:ext cx="4830775" cy="329184"/>
          </a:xfrm>
          <a:prstGeom prst="rect">
            <a:avLst/>
          </a:prstGeom>
          <a:noFill/>
          <a:ln/>
        </p:spPr>
        <p:txBody>
          <a:bodyPr wrap="square" lIns="0" tIns="0" rIns="0" bIns="0" rtlCol="0" anchor="t"/>
          <a:lstStyle/>
          <a:p>
            <a:pPr indent="0" marL="0">
              <a:buNone/>
            </a:pPr>
            <a:r>
              <a:rPr lang="en-US" sz="1700" b="1" dirty="0">
                <a:solidFill>
                  <a:schemeClr val="tx1"/>
                </a:solidFill>
              </a:rPr>
              <a:t>Calibrate every hospital size</a:t>
            </a:r>
            <a:endParaRPr lang="en-US" sz="1700" dirty="0"/>
          </a:p>
        </p:txBody>
      </p:sp>
      <p:sp>
        <p:nvSpPr>
          <p:cNvPr id="16" name="Text 14"/>
          <p:cNvSpPr txBox="1"/>
          <p:nvPr/>
        </p:nvSpPr>
        <p:spPr>
          <a:xfrm>
            <a:off x="6812280" y="3621024"/>
            <a:ext cx="4830775" cy="502920"/>
          </a:xfrm>
          <a:prstGeom prst="rect">
            <a:avLst/>
          </a:prstGeom>
          <a:noFill/>
          <a:ln/>
        </p:spPr>
        <p:txBody>
          <a:bodyPr wrap="square" lIns="0" tIns="0" rIns="0" bIns="0" rtlCol="0" anchor="t"/>
          <a:lstStyle/>
          <a:p>
            <a:pPr indent="0" marL="0">
              <a:buNone/>
            </a:pPr>
            <a:r>
              <a:rPr lang="en-US" sz="1400" dirty="0">
                <a:solidFill>
                  <a:schemeClr val="tx2"/>
                </a:solidFill>
              </a:rPr>
              <a:t>Small and Medium presets are scaled, not yet fitted</a:t>
            </a:r>
            <a:endParaRPr lang="en-US" sz="1400" dirty="0"/>
          </a:p>
        </p:txBody>
      </p:sp>
      <p:sp>
        <p:nvSpPr>
          <p:cNvPr id="17" name="next 3"/>
          <p:cNvSpPr/>
          <p:nvPr/>
        </p:nvSpPr>
        <p:spPr>
          <a:xfrm>
            <a:off x="6217920" y="4288536"/>
            <a:ext cx="411480" cy="411480"/>
          </a:xfrm>
          <a:prstGeom prst="ellipse">
            <a:avLst/>
          </a:prstGeom>
          <a:solidFill>
            <a:srgbClr val="15803D"/>
          </a:solidFill>
          <a:ln w="12700">
            <a:solidFill>
              <a:srgbClr val="15803D"/>
            </a:solidFill>
            <a:prstDash val="solid"/>
          </a:ln>
        </p:spPr>
      </p:sp>
      <p:sp>
        <p:nvSpPr>
          <p:cNvPr id="18" name="Text 16"/>
          <p:cNvSpPr txBox="1"/>
          <p:nvPr/>
        </p:nvSpPr>
        <p:spPr>
          <a:xfrm>
            <a:off x="6217920" y="428853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6812280" y="4261104"/>
            <a:ext cx="4830775" cy="329184"/>
          </a:xfrm>
          <a:prstGeom prst="rect">
            <a:avLst/>
          </a:prstGeom>
          <a:noFill/>
          <a:ln/>
        </p:spPr>
        <p:txBody>
          <a:bodyPr wrap="square" lIns="0" tIns="0" rIns="0" bIns="0" rtlCol="0" anchor="t"/>
          <a:lstStyle/>
          <a:p>
            <a:pPr indent="0" marL="0">
              <a:buNone/>
            </a:pPr>
            <a:r>
              <a:rPr lang="en-US" sz="1700" b="1" dirty="0">
                <a:solidFill>
                  <a:schemeClr val="tx1"/>
                </a:solidFill>
              </a:rPr>
              <a:t>Test on a partner hospital's data</a:t>
            </a:r>
            <a:endParaRPr lang="en-US" sz="1700" dirty="0"/>
          </a:p>
        </p:txBody>
      </p:sp>
      <p:sp>
        <p:nvSpPr>
          <p:cNvPr id="20" name="Text 18"/>
          <p:cNvSpPr txBox="1"/>
          <p:nvPr/>
        </p:nvSpPr>
        <p:spPr>
          <a:xfrm>
            <a:off x="6812280" y="4608576"/>
            <a:ext cx="4830775" cy="502920"/>
          </a:xfrm>
          <a:prstGeom prst="rect">
            <a:avLst/>
          </a:prstGeom>
          <a:noFill/>
          <a:ln/>
        </p:spPr>
        <p:txBody>
          <a:bodyPr wrap="square" lIns="0" tIns="0" rIns="0" bIns="0" rtlCol="0" anchor="t"/>
          <a:lstStyle/>
          <a:p>
            <a:pPr indent="0" marL="0">
              <a:buNone/>
            </a:pPr>
            <a:r>
              <a:rPr lang="en-US" sz="1400" dirty="0">
                <a:solidFill>
                  <a:schemeClr val="tx2"/>
                </a:solidFill>
              </a:rPr>
              <a:t>Compare plans and alarms with what really happened</a:t>
            </a:r>
            <a:endParaRPr lang="en-US" sz="1400" dirty="0"/>
          </a:p>
        </p:txBody>
      </p:sp>
      <p:sp>
        <p:nvSpPr>
          <p:cNvPr id="21" name="team band"/>
          <p:cNvSpPr/>
          <p:nvPr/>
        </p:nvSpPr>
        <p:spPr>
          <a:xfrm>
            <a:off x="548640" y="5394960"/>
            <a:ext cx="11094415" cy="777240"/>
          </a:xfrm>
          <a:prstGeom prst="roundRect">
            <a:avLst>
              <a:gd name="adj" fmla="val 14118"/>
            </a:avLst>
          </a:prstGeom>
          <a:solidFill>
            <a:srgbClr val="EEF4FB"/>
          </a:solidFill>
          <a:ln w="12700">
            <a:solidFill>
              <a:srgbClr val="D1D5DB"/>
            </a:solidFill>
            <a:prstDash val="solid"/>
          </a:ln>
        </p:spPr>
      </p:sp>
      <p:sp>
        <p:nvSpPr>
          <p:cNvPr id="22" name="Text 20"/>
          <p:cNvSpPr txBox="1"/>
          <p:nvPr/>
        </p:nvSpPr>
        <p:spPr>
          <a:xfrm>
            <a:off x="822960" y="5394960"/>
            <a:ext cx="6949440" cy="777240"/>
          </a:xfrm>
          <a:prstGeom prst="rect">
            <a:avLst/>
          </a:prstGeom>
          <a:noFill/>
          <a:ln/>
        </p:spPr>
        <p:txBody>
          <a:bodyPr wrap="square" lIns="0" tIns="0" rIns="0" bIns="0" rtlCol="0" anchor="ctr"/>
          <a:lstStyle/>
          <a:p>
            <a:pPr indent="0" marL="0">
              <a:buNone/>
            </a:pPr>
            <a:r>
              <a:rPr lang="en-US" sz="1800" b="1" dirty="0">
                <a:solidFill>
                  <a:srgbClr val="0B5CAD"/>
                </a:solidFill>
              </a:rPr>
              <a:t>Team KnightAI   </a:t>
            </a:r>
            <a:pPr indent="0" marL="0">
              <a:buNone/>
            </a:pPr>
            <a:r>
              <a:rPr lang="en-US" sz="1800" dirty="0">
                <a:solidFill>
                  <a:schemeClr val="tx1"/>
                </a:solidFill>
              </a:rPr>
              <a:t>Abhigyan Tiwari · Ken · Narandelgerekh</a:t>
            </a:r>
            <a:endParaRPr lang="en-US" sz="1800" dirty="0"/>
          </a:p>
        </p:txBody>
      </p:sp>
      <p:sp>
        <p:nvSpPr>
          <p:cNvPr id="23" name="Text 21">
            <a:hlinkClick r:id="rId1" tooltip=""/>
          </p:cNvPr>
          <p:cNvSpPr txBox="1"/>
          <p:nvPr/>
        </p:nvSpPr>
        <p:spPr>
          <a:xfrm>
            <a:off x="7772400" y="5394960"/>
            <a:ext cx="3596335" cy="777240"/>
          </a:xfrm>
          <a:prstGeom prst="rect">
            <a:avLst/>
          </a:prstGeom>
          <a:noFill/>
          <a:ln/>
        </p:spPr>
        <p:txBody>
          <a:bodyPr wrap="square" lIns="0" tIns="0" rIns="0" bIns="0" rtlCol="0" anchor="ctr"/>
          <a:lstStyle/>
          <a:p>
            <a:pPr algn="r" indent="0" marL="0">
              <a:buNone/>
            </a:pPr>
            <a:r>
              <a:rPr lang="en-US" sz="1600" u="sng" dirty="0">
                <a:solidFill>
                  <a:srgbClr val="0B5CAD"/>
                </a:solidFill>
                <a:hlinkClick r:id="rId1" invalidUrl="" action="" tgtFrame="" tooltip="" history="1" highlightClick="0" endSnd="0">
                  <a:extLst>
                    <a:ext uri="{A12FA001-AC4F-418D-AE19-62706E023703}">
                      <ahyp:hlinkClr xmlns:ahyp="http://schemas.microsoft.com/office/drawing/2018/hyperlinkcolor" val="tx"/>
                    </a:ext>
                  </a:extLst>
                </a:hlinkClick>
              </a:rPr>
              <a:t>github.com/naranll/ed-surge-simulator</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4B5563"/>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PulseOps">
  <a:themeElements>
    <a:clrScheme name="PulseOps">
      <a:dk1>
        <a:srgbClr val="111827"/>
      </a:dk1>
      <a:lt1>
        <a:srgbClr val="FFFFFF"/>
      </a:lt1>
      <a:dk2>
        <a:srgbClr val="4B5563"/>
      </a:dk2>
      <a:lt2>
        <a:srgbClr val="F3F4F6"/>
      </a:lt2>
      <a:accent1>
        <a:srgbClr val="0B5CAD"/>
      </a:accent1>
      <a:accent2>
        <a:srgbClr val="15803D"/>
      </a:accent2>
      <a:accent3>
        <a:srgbClr val="B45309"/>
      </a:accent3>
      <a:accent4>
        <a:srgbClr val="5B8FCF"/>
      </a:accent4>
      <a:accent5>
        <a:srgbClr val="6DB287"/>
      </a:accent5>
      <a:accent6>
        <a:srgbClr val="9CA3AF"/>
      </a:accent6>
      <a:hlink>
        <a:srgbClr val="0B5CAD"/>
      </a:hlink>
      <a:folHlink>
        <a:srgbClr val="5B3E96"/>
      </a:folHlink>
    </a:clrScheme>
    <a:fontScheme name="PulseOp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KnightAI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PulseOps - ED Surge Simulator</dc:title>
  <dc:subject>PptxGenJS Presentation</dc:subject>
  <dc:creator>Team KnightAI</dc:creator>
  <cp:lastModifiedBy>Team KnightAI</cp:lastModifiedBy>
  <cp:revision>1</cp:revision>
  <dcterms:created xsi:type="dcterms:W3CDTF">2026-10-18T07:31:50Z</dcterms:created>
  <dcterms:modified xsi:type="dcterms:W3CDTF">2026-10-18T07:31:50Z</dcterms:modified>
</cp:coreProperties>
</file>